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254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744F9-3EB9-45AC-B4CD-1D4E050FB74F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3CC1E-9ABC-41C6-9B22-1B01562CB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319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>
                <a:latin typeface="Segoe UI" panose="020B0502040204020203" pitchFamily="34" charset="0"/>
              </a:rPr>
              <a:t>0:30 — Представьтесь и назовите тему: приложение для школьников и водителей школьных автобусов, работает как Яндекс.Карты. Скажите, что дальше будет 8 минут: проблема, решение, как это работает и цифры эффекта.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3CC1E-9ABC-41C6-9B22-1B01562CBA8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303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>
                <a:latin typeface="Segoe UI" panose="020B0502040204020203" pitchFamily="34" charset="0"/>
              </a:rPr>
              <a:t>1:00 — Главная мысль: проблема не в логистике, а в том, что nobody не обменивается информацией. Спросите зал: сколько звонков в день получает школа про школьный автобус? Обычно отвечают «много», и это наш вход в тему.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3CC1E-9ABC-41C6-9B22-1B01562CBA8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843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>
                <a:latin typeface="Segoe UI" panose="020B0502040204020203" pitchFamily="34" charset="0"/>
              </a:rPr>
              <a:t>0:45 — Подчеркните: приложение не добавляет работу, а убирает её. Ученик делает то, что и так делает — выходит к остановке, просто отмечает это. Водитель вместо угадывания получает точный список.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3CC1E-9ABC-41C6-9B22-1B01562CBA8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194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>
                <a:latin typeface="Segoe UI" panose="020B0502040204020203" pitchFamily="34" charset="0"/>
              </a:rPr>
              <a:t>1:00 — Пройдите по шагам быстро, задержитесь на третьем: именно пересборка маршрута — ядро ценности. Если остановку отметили поздно, маршрут меняется мгновенно, без звонка диспетчеру.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3CC1E-9ABC-41C6-9B22-1B01562CBA8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382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>
                <a:latin typeface="Segoe UI" panose="020B0502040204020203" pitchFamily="34" charset="0"/>
              </a:rPr>
              <a:t>1:00 — Покажите демо, если есть возможность: переключитесь на водителя, выберите другой автобус. Ключевая мысль — водитель видит не карту, а работу: где кто ждёт и кого уже взяли.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3CC1E-9ABC-41C6-9B22-1B01562CBA8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176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>
                <a:latin typeface="Segoe UI" panose="020B0502040204020203" pitchFamily="34" charset="0"/>
              </a:rPr>
              <a:t>0:45 — Родительский режим в текущей версии — ближайший шаг, скажите честно. Главное: сегодня ребёнок отмечает выход сам, а это и есть тот сигнал, который сейчас передают звонком.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3CC1E-9ABC-41C6-9B22-1B01562CBA8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8490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>
                <a:latin typeface="Segoe UI" panose="020B0502040204020203" pitchFamily="34" charset="0"/>
              </a:rPr>
              <a:t>0:45 — Здесь снимайте сомнение «это нарисованная картинка». Покажите, что остановки подписаны настоящими адресами, а школы — реальные. Можно назвать конкретику: Школа №25, №26, №27, №31, Лицей №13.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3CC1E-9ABC-41C6-9B22-1B01562CBA8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992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>
                <a:latin typeface="Segoe UI" panose="020B0502040204020203" pitchFamily="34" charset="0"/>
              </a:rPr>
              <a:t>1:15 — Это главный слайд выступления. По каждой строке: слева — как было, посередине — что делает приложение, справа — эффект. Честно оговоритесь: цифры — оценочные, их нужно подтвердить пилотом на двух-трёх машинах.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3CC1E-9ABC-41C6-9B22-1B01562CBA8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17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>
                <a:latin typeface="Segoe UI" panose="020B0502040204020203" pitchFamily="34" charset="0"/>
              </a:rPr>
              <a:t>0:45 — Не продавайте будущее, продайте работающее. Скажите: сегодня это закрывает боль «когда автобус» и «кто не вышел», а следующий шаг — подключить настоящий GPS, тогда ETA станет точным до минуты.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3CC1E-9ABC-41C6-9B22-1B01562CBA8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448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>
                <a:latin typeface="Segoe UI" panose="020B0502040204020203" pitchFamily="34" charset="0"/>
              </a:rPr>
              <a:t>0:15 — Повторите три тезиса и позовите к экрану: файл «Школьный автобус.html» на рабочем столе открывается двойным щелчком. Оставьте слайд на экране во время вопросов.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3CC1E-9ABC-41C6-9B22-1B01562CBA8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295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98100B-DB3E-B7E5-2C1E-9A1FA8DEC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996D362-7693-2FB8-F2E3-9F980D7A5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D9B07B-DDF7-A9EE-4B7F-8205423EB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17712-6408-4FEA-9541-02F36826A87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6F975E-57C5-1E63-05A3-A20EB2787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32444F-98F1-7B83-71A2-98D4528F9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0323-51CD-48C7-9AC2-21B2F131E0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23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CF0C30-AD17-CB21-AB4A-D15E8A1C6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F5E0FF-51AD-E61B-724B-3B53A87D7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5967D4-2382-5322-B0A5-2C06A44B7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17712-6408-4FEA-9541-02F36826A87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66DDAC-3DE6-C184-ADD0-92950200B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C72F6D-9C9F-C7AB-22A5-4DE0D8FE3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0323-51CD-48C7-9AC2-21B2F131E0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057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D477FD-CE06-8408-900F-0913B1C9C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BFE39D-983E-D179-5952-0DF2486F7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99804F-9CA8-5FA4-A501-386B5BB16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17712-6408-4FEA-9541-02F36826A87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95B4C9-42C0-D1CE-9E2E-41497798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9B0AAB-A348-D63D-4C50-363F31BB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0323-51CD-48C7-9AC2-21B2F131E0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148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AB6FC7-7066-CD17-9D81-96219D9BB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A16DE7-A3FD-FB31-CB6B-193F964CC6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60E5E0-A60B-3326-3239-187638FB9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8C697E-9229-600E-D873-2D2A816CE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17712-6408-4FEA-9541-02F36826A87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E0848A-06AF-5BE4-8253-6DC713642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E25B00-EBE4-FA66-B1A7-5EA468B7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0323-51CD-48C7-9AC2-21B2F131E0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8760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BDDC6-E4E3-22E5-7714-8A71A08A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21FFCB-27F9-4E24-6769-B223211B8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071489-00FE-4D7E-3F1E-C0FFD3C5D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672F668-6566-D6BF-78DB-F9D952F93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58E5BD-4673-E327-C42F-9C9A94FA3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96CFD71-347B-9B21-3535-189100FD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17712-6408-4FEA-9541-02F36826A87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ACDA007-7771-E9B0-0812-EBD395DEE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8AC333-2EE2-613E-A730-60AB7B4C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0323-51CD-48C7-9AC2-21B2F131E0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69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B74AB2-D8C7-5963-0EA2-357FB4D2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897D77-20C9-7ABB-C9F8-46C604692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17712-6408-4FEA-9541-02F36826A87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2CCF4FD-DA5D-F772-62E5-6D1F25F20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8B5671-F71A-0FE6-AB92-C1EEDF0F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0323-51CD-48C7-9AC2-21B2F131E0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787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5F95AF2-0824-2A44-4134-0CBDAFBDC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17712-6408-4FEA-9541-02F36826A87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C59D42-DBBE-9EB6-AFB4-14860C8B6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608830-59A3-51EC-FAC1-08FA4C35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0323-51CD-48C7-9AC2-21B2F131E0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110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DEF8AF-B31E-B9E0-6F66-D57422900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4D7C6F-8C8E-E018-2AC1-5413167AE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284E21-8955-D898-D679-70986A1DA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6E1AA9-9EF6-D074-FDF0-9CBF2BE0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17712-6408-4FEA-9541-02F36826A87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541A8C-44C0-6138-08CB-3A45C6CCE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D9B17D-8F52-F544-842D-06745CA6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0323-51CD-48C7-9AC2-21B2F131E0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8081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1F18F-D8F5-6D69-8795-A9D2E3BDB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8BF13C9-106B-B180-893E-83CE33085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9CA86A-2C93-795F-C2DD-B2C261CA1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158755-1B58-D099-A406-10F9D9814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17712-6408-4FEA-9541-02F36826A87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E8CC0D-6396-A6B7-7CF3-8D48537E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E7A4E3-B6FF-77B5-3DC2-D3F2922A9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0323-51CD-48C7-9AC2-21B2F131E0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83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B7981-7811-4180-A788-55881776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2C8605-2241-E8BF-7E18-F242D1BDE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2CE94D-3225-DE83-7DDB-E70FE1E00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17712-6408-4FEA-9541-02F36826A87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87F9A5-0E75-C1E4-160D-2DA6F005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238FB7-EE00-9701-CACD-DE9BEFB87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0323-51CD-48C7-9AC2-21B2F131E0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49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B1B83F-A19C-A2BE-C533-9A8417F00C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5F6811-63A3-129B-AE68-37AD6E34D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994E66-6145-D6C2-9E67-58688FB2B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17712-6408-4FEA-9541-02F36826A87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5EFF7C-C241-FFC7-C4D7-D5E044EC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66DA7F-4A38-32C1-21A0-72BE07CDF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D0323-51CD-48C7-9AC2-21B2F131E0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058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7B53C5-B2DC-F796-F504-F20D298FA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550748-191B-FB39-C3A0-E46FE128C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BABFA3-862B-8B25-100E-F1FBFE959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17712-6408-4FEA-9541-02F36826A873}" type="datetimeFigureOut">
              <a:rPr lang="ru-RU" smtClean="0"/>
              <a:t>20.10.2026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E14D85-9388-090C-ADE6-121A3FC0D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CF3911-CDC8-B70B-231D-4E6527701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D0323-51CD-48C7-9AC2-21B2F131E0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015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51DCA60-43D4-3775-EF8A-F2D662450E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A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6D1ECACE-9824-1369-BB35-9CDFED4A9CE8}"/>
              </a:ext>
            </a:extLst>
          </p:cNvPr>
          <p:cNvSpPr/>
          <p:nvPr/>
        </p:nvSpPr>
        <p:spPr>
          <a:xfrm>
            <a:off x="8890000" y="-2286000"/>
            <a:ext cx="5842000" cy="5842000"/>
          </a:xfrm>
          <a:prstGeom prst="ellipse">
            <a:avLst/>
          </a:prstGeom>
          <a:solidFill>
            <a:srgbClr val="1E3A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9605050B-9096-1C6B-5A75-B18C96B7702E}"/>
              </a:ext>
            </a:extLst>
          </p:cNvPr>
          <p:cNvSpPr/>
          <p:nvPr/>
        </p:nvSpPr>
        <p:spPr>
          <a:xfrm>
            <a:off x="10033000" y="3810000"/>
            <a:ext cx="3810000" cy="3810000"/>
          </a:xfrm>
          <a:prstGeom prst="ellipse">
            <a:avLst/>
          </a:prstGeom>
          <a:solidFill>
            <a:srgbClr val="2C4A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4D46D06-C6F5-FEE0-B588-6D7E4B8652DA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336E7F6-C12C-85E7-1642-310AD9F273A4}"/>
              </a:ext>
            </a:extLst>
          </p:cNvPr>
          <p:cNvSpPr/>
          <p:nvPr/>
        </p:nvSpPr>
        <p:spPr>
          <a:xfrm>
            <a:off x="8331200" y="2616200"/>
            <a:ext cx="2616200" cy="1371600"/>
          </a:xfrm>
          <a:prstGeom prst="roundRect">
            <a:avLst>
              <a:gd name="adj" fmla="val 20000"/>
            </a:avLst>
          </a:prstGeom>
          <a:solidFill>
            <a:srgbClr val="2E7A8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29D60D5-A19E-7557-368E-1FEECE9AEE1C}"/>
              </a:ext>
            </a:extLst>
          </p:cNvPr>
          <p:cNvSpPr/>
          <p:nvPr/>
        </p:nvSpPr>
        <p:spPr>
          <a:xfrm>
            <a:off x="8559800" y="2844800"/>
            <a:ext cx="787400" cy="533400"/>
          </a:xfrm>
          <a:prstGeom prst="rect">
            <a:avLst/>
          </a:prstGeom>
          <a:solidFill>
            <a:srgbClr val="ED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79C99A2-6192-67D8-7CF9-1E7B76740384}"/>
              </a:ext>
            </a:extLst>
          </p:cNvPr>
          <p:cNvSpPr/>
          <p:nvPr/>
        </p:nvSpPr>
        <p:spPr>
          <a:xfrm>
            <a:off x="9474200" y="2844800"/>
            <a:ext cx="406400" cy="533400"/>
          </a:xfrm>
          <a:prstGeom prst="rect">
            <a:avLst/>
          </a:prstGeom>
          <a:solidFill>
            <a:srgbClr val="ED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97DAE6D-592F-E224-54A3-B2995BADB7F5}"/>
              </a:ext>
            </a:extLst>
          </p:cNvPr>
          <p:cNvSpPr/>
          <p:nvPr/>
        </p:nvSpPr>
        <p:spPr>
          <a:xfrm>
            <a:off x="10007600" y="2844800"/>
            <a:ext cx="406400" cy="533400"/>
          </a:xfrm>
          <a:prstGeom prst="rect">
            <a:avLst/>
          </a:prstGeom>
          <a:solidFill>
            <a:srgbClr val="ED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537F27C-5115-DD35-7F33-9A18B627653A}"/>
              </a:ext>
            </a:extLst>
          </p:cNvPr>
          <p:cNvSpPr/>
          <p:nvPr/>
        </p:nvSpPr>
        <p:spPr>
          <a:xfrm>
            <a:off x="8559800" y="3581400"/>
            <a:ext cx="1854200" cy="88900"/>
          </a:xfrm>
          <a:prstGeom prst="rect">
            <a:avLst/>
          </a:prstGeom>
          <a:solidFill>
            <a:srgbClr val="EDF2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642555CA-BD6E-3A08-D108-C8FBBA9442CD}"/>
              </a:ext>
            </a:extLst>
          </p:cNvPr>
          <p:cNvSpPr/>
          <p:nvPr/>
        </p:nvSpPr>
        <p:spPr>
          <a:xfrm>
            <a:off x="8712200" y="3860800"/>
            <a:ext cx="381000" cy="381000"/>
          </a:xfrm>
          <a:prstGeom prst="ellipse">
            <a:avLst/>
          </a:prstGeom>
          <a:solidFill>
            <a:srgbClr val="122A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531D37F8-5242-EF5C-5D1A-C3C4B3F13156}"/>
              </a:ext>
            </a:extLst>
          </p:cNvPr>
          <p:cNvSpPr/>
          <p:nvPr/>
        </p:nvSpPr>
        <p:spPr>
          <a:xfrm>
            <a:off x="10185400" y="3860800"/>
            <a:ext cx="381000" cy="381000"/>
          </a:xfrm>
          <a:prstGeom prst="ellipse">
            <a:avLst/>
          </a:prstGeom>
          <a:solidFill>
            <a:srgbClr val="122A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B5AE79C-B68C-83C1-D2BD-76C2B733E192}"/>
              </a:ext>
            </a:extLst>
          </p:cNvPr>
          <p:cNvSpPr/>
          <p:nvPr/>
        </p:nvSpPr>
        <p:spPr>
          <a:xfrm>
            <a:off x="8229600" y="4521200"/>
            <a:ext cx="1676400" cy="254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A8830983-2041-6C52-9F8C-502E36CF33AD}"/>
              </a:ext>
            </a:extLst>
          </p:cNvPr>
          <p:cNvSpPr/>
          <p:nvPr/>
        </p:nvSpPr>
        <p:spPr>
          <a:xfrm>
            <a:off x="8153400" y="4419600"/>
            <a:ext cx="228600" cy="2286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FC38AB87-C202-F7EB-5E9D-7F30CE9836F0}"/>
              </a:ext>
            </a:extLst>
          </p:cNvPr>
          <p:cNvSpPr/>
          <p:nvPr/>
        </p:nvSpPr>
        <p:spPr>
          <a:xfrm>
            <a:off x="8940800" y="4419600"/>
            <a:ext cx="228600" cy="2286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8E1D6C20-9360-A112-7232-71718C1F3A4D}"/>
              </a:ext>
            </a:extLst>
          </p:cNvPr>
          <p:cNvSpPr/>
          <p:nvPr/>
        </p:nvSpPr>
        <p:spPr>
          <a:xfrm>
            <a:off x="9728200" y="4419600"/>
            <a:ext cx="228600" cy="2286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DFACEB57-BEBD-FABF-EBD4-7C265EF1FFA6}"/>
              </a:ext>
            </a:extLst>
          </p:cNvPr>
          <p:cNvSpPr/>
          <p:nvPr/>
        </p:nvSpPr>
        <p:spPr>
          <a:xfrm>
            <a:off x="10388600" y="4267200"/>
            <a:ext cx="558800" cy="5588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1590BC7B-2234-33DD-02F6-B720F26A6DCB}"/>
              </a:ext>
            </a:extLst>
          </p:cNvPr>
          <p:cNvSpPr/>
          <p:nvPr/>
        </p:nvSpPr>
        <p:spPr>
          <a:xfrm>
            <a:off x="10566400" y="4445000"/>
            <a:ext cx="203200" cy="2032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Равнобедренный треугольник 18">
            <a:extLst>
              <a:ext uri="{FF2B5EF4-FFF2-40B4-BE49-F238E27FC236}">
                <a16:creationId xmlns:a16="http://schemas.microsoft.com/office/drawing/2014/main" id="{F6FCFEE6-D178-E6C8-25A7-98B9D34B496C}"/>
              </a:ext>
            </a:extLst>
          </p:cNvPr>
          <p:cNvSpPr/>
          <p:nvPr/>
        </p:nvSpPr>
        <p:spPr>
          <a:xfrm>
            <a:off x="10541000" y="4724400"/>
            <a:ext cx="254000" cy="279400"/>
          </a:xfrm>
          <a:prstGeom prst="triangl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7BA914-EBE9-B875-C582-CBC1F6E9DA5E}"/>
              </a:ext>
            </a:extLst>
          </p:cNvPr>
          <p:cNvSpPr txBox="1"/>
          <p:nvPr/>
        </p:nvSpPr>
        <p:spPr>
          <a:xfrm>
            <a:off x="1143000" y="19050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300" b="1">
                <a:solidFill>
                  <a:srgbClr val="E07A28"/>
                </a:solidFill>
                <a:latin typeface="Segoe UI Semibold" panose="020B0702040204020203" pitchFamily="34" charset="0"/>
              </a:rPr>
              <a:t>ПРИЛОЖЕНИЕ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4B74FE-1494-32E5-7141-45B566A439DD}"/>
              </a:ext>
            </a:extLst>
          </p:cNvPr>
          <p:cNvSpPr txBox="1"/>
          <p:nvPr/>
        </p:nvSpPr>
        <p:spPr>
          <a:xfrm>
            <a:off x="1143000" y="23114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5400">
                <a:solidFill>
                  <a:srgbClr val="FFFFFF"/>
                </a:solidFill>
                <a:latin typeface="Segoe UI Light" panose="020B0502040204020203" pitchFamily="34" charset="0"/>
              </a:rPr>
              <a:t>Школьный автобус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EB68501-9B50-9430-5EFC-755E97316034}"/>
              </a:ext>
            </a:extLst>
          </p:cNvPr>
          <p:cNvSpPr/>
          <p:nvPr/>
        </p:nvSpPr>
        <p:spPr>
          <a:xfrm>
            <a:off x="1143000" y="4191000"/>
            <a:ext cx="914400" cy="635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C17928-3E57-C680-2972-0069E27A1759}"/>
              </a:ext>
            </a:extLst>
          </p:cNvPr>
          <p:cNvSpPr txBox="1"/>
          <p:nvPr/>
        </p:nvSpPr>
        <p:spPr>
          <a:xfrm>
            <a:off x="1143000" y="45466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>
                <a:solidFill>
                  <a:srgbClr val="ECF1F7"/>
                </a:solidFill>
                <a:latin typeface="Segoe UI" panose="020B0502040204020203" pitchFamily="34" charset="0"/>
              </a:rPr>
              <a:t>Карта маршрутов и посадки: как убрать звонки и бумажные списки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85854B-AD9D-4FF2-0B49-1CA272F89088}"/>
              </a:ext>
            </a:extLst>
          </p:cNvPr>
          <p:cNvSpPr txBox="1"/>
          <p:nvPr/>
        </p:nvSpPr>
        <p:spPr>
          <a:xfrm>
            <a:off x="1143000" y="57404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>
                <a:solidFill>
                  <a:srgbClr val="5E6C7C"/>
                </a:solidFill>
                <a:latin typeface="Segoe UI" panose="020B0502040204020203" pitchFamily="34" charset="0"/>
              </a:rPr>
              <a:t>Хронометраж: 8 минут · 10 слайдов · демо по Химкам</a:t>
            </a:r>
          </a:p>
        </p:txBody>
      </p:sp>
    </p:spTree>
    <p:extLst>
      <p:ext uri="{BB962C8B-B14F-4D97-AF65-F5344CB8AC3E}">
        <p14:creationId xmlns:p14="http://schemas.microsoft.com/office/powerpoint/2010/main" val="4164208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3C6A541-CA59-2208-87E6-F50C8F1B2E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CC0ACDC-568D-1FFA-07B9-D379E64BA3F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CBA5F-72F5-9024-37AD-83C0B63BFAD4}"/>
              </a:ext>
            </a:extLst>
          </p:cNvPr>
          <p:cNvSpPr txBox="1"/>
          <p:nvPr/>
        </p:nvSpPr>
        <p:spPr>
          <a:xfrm>
            <a:off x="762000" y="558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 b="1">
                <a:solidFill>
                  <a:srgbClr val="E07A28"/>
                </a:solidFill>
                <a:latin typeface="Segoe UI Semibold" panose="020B0702040204020203" pitchFamily="34" charset="0"/>
              </a:rPr>
              <a:t>ПРОБЛЕМА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66FDD-A20B-E29C-DD0A-6E5F452AC511}"/>
              </a:ext>
            </a:extLst>
          </p:cNvPr>
          <p:cNvSpPr txBox="1"/>
          <p:nvPr/>
        </p:nvSpPr>
        <p:spPr>
          <a:xfrm>
            <a:off x="762000" y="838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900" b="1">
                <a:solidFill>
                  <a:srgbClr val="122A3E"/>
                </a:solidFill>
                <a:latin typeface="Segoe UI Semibold" panose="020B0702040204020203" pitchFamily="34" charset="0"/>
              </a:rPr>
              <a:t>Как это работает сегодня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CB04882-D38E-5BC9-F515-11A1CFB01133}"/>
              </a:ext>
            </a:extLst>
          </p:cNvPr>
          <p:cNvSpPr/>
          <p:nvPr/>
        </p:nvSpPr>
        <p:spPr>
          <a:xfrm>
            <a:off x="762000" y="1498600"/>
            <a:ext cx="7112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41DFED-3A71-7391-737B-60BF321C4CCE}"/>
              </a:ext>
            </a:extLst>
          </p:cNvPr>
          <p:cNvSpPr txBox="1"/>
          <p:nvPr/>
        </p:nvSpPr>
        <p:spPr>
          <a:xfrm>
            <a:off x="762000" y="6400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50">
                <a:solidFill>
                  <a:srgbClr val="5E6C7C"/>
                </a:solidFill>
                <a:latin typeface="Segoe UI" panose="020B0502040204020203" pitchFamily="34" charset="0"/>
              </a:rPr>
              <a:t>Школьный автобус · карта маршрутов и посадки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0891E9-8428-B70E-E16D-3164CD741A87}"/>
              </a:ext>
            </a:extLst>
          </p:cNvPr>
          <p:cNvSpPr txBox="1"/>
          <p:nvPr/>
        </p:nvSpPr>
        <p:spPr>
          <a:xfrm>
            <a:off x="10668000" y="6400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000">
                <a:solidFill>
                  <a:srgbClr val="5E6C7C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282BE6A-C621-C11F-6253-075DBB5F0436}"/>
              </a:ext>
            </a:extLst>
          </p:cNvPr>
          <p:cNvSpPr/>
          <p:nvPr/>
        </p:nvSpPr>
        <p:spPr>
          <a:xfrm>
            <a:off x="762000" y="1981200"/>
            <a:ext cx="5207000" cy="200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56A222A8-0563-A211-A205-B6B0307BC1FC}"/>
              </a:ext>
            </a:extLst>
          </p:cNvPr>
          <p:cNvSpPr/>
          <p:nvPr/>
        </p:nvSpPr>
        <p:spPr>
          <a:xfrm>
            <a:off x="1066800" y="2286000"/>
            <a:ext cx="508000" cy="5080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2ECE5B-1F2C-41B3-82FA-0AC89E84A982}"/>
              </a:ext>
            </a:extLst>
          </p:cNvPr>
          <p:cNvSpPr txBox="1"/>
          <p:nvPr/>
        </p:nvSpPr>
        <p:spPr>
          <a:xfrm>
            <a:off x="1066800" y="22860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BF3073-2A7D-DBDB-649D-9FA1A1E90AFC}"/>
              </a:ext>
            </a:extLst>
          </p:cNvPr>
          <p:cNvSpPr txBox="1"/>
          <p:nvPr/>
        </p:nvSpPr>
        <p:spPr>
          <a:xfrm>
            <a:off x="1778000" y="2311400"/>
            <a:ext cx="388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122A3E"/>
                </a:solidFill>
                <a:latin typeface="Segoe UI Semibold" panose="020B0702040204020203" pitchFamily="34" charset="0"/>
              </a:rPr>
              <a:t>«Где мой автобус?»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CC3466-8074-6D9F-BAE9-85CC44230EFF}"/>
              </a:ext>
            </a:extLst>
          </p:cNvPr>
          <p:cNvSpPr txBox="1"/>
          <p:nvPr/>
        </p:nvSpPr>
        <p:spPr>
          <a:xfrm>
            <a:off x="1778000" y="2743200"/>
            <a:ext cx="388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Дети и родители не знают, когда приедет транспорт: звонят в школу, водителю и в чат. 10–20 звонков на одну машину в день.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5DE00C3-9576-CFF3-720C-296C827BE6A2}"/>
              </a:ext>
            </a:extLst>
          </p:cNvPr>
          <p:cNvSpPr/>
          <p:nvPr/>
        </p:nvSpPr>
        <p:spPr>
          <a:xfrm>
            <a:off x="6350000" y="1981200"/>
            <a:ext cx="5207000" cy="200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BC112BA5-67A2-A24E-72FB-19A90CCFFCBD}"/>
              </a:ext>
            </a:extLst>
          </p:cNvPr>
          <p:cNvSpPr/>
          <p:nvPr/>
        </p:nvSpPr>
        <p:spPr>
          <a:xfrm>
            <a:off x="6654800" y="2286000"/>
            <a:ext cx="508000" cy="5080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04C9B7-1EEF-4EF3-448B-76AFFB8B6B8E}"/>
              </a:ext>
            </a:extLst>
          </p:cNvPr>
          <p:cNvSpPr txBox="1"/>
          <p:nvPr/>
        </p:nvSpPr>
        <p:spPr>
          <a:xfrm>
            <a:off x="6654800" y="22860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40B96C-E05D-C1CC-39E4-E46B8C48163C}"/>
              </a:ext>
            </a:extLst>
          </p:cNvPr>
          <p:cNvSpPr txBox="1"/>
          <p:nvPr/>
        </p:nvSpPr>
        <p:spPr>
          <a:xfrm>
            <a:off x="7366000" y="2311400"/>
            <a:ext cx="388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122A3E"/>
                </a:solidFill>
                <a:latin typeface="Segoe UI Semibold" panose="020B0702040204020203" pitchFamily="34" charset="0"/>
              </a:rPr>
              <a:t>Маршрут едет вслепую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4EF368-5756-250D-268D-33D1EEEAA7BB}"/>
              </a:ext>
            </a:extLst>
          </p:cNvPr>
          <p:cNvSpPr txBox="1"/>
          <p:nvPr/>
        </p:nvSpPr>
        <p:spPr>
          <a:xfrm>
            <a:off x="7366000" y="2743200"/>
            <a:ext cx="388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Водитель узнаёт о новом ученике в последний момент: объезжает лишний круг и теряет 10–15 минут на рейс.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CF397925-BA42-E6B6-DC3E-D6F3B81F6DCB}"/>
              </a:ext>
            </a:extLst>
          </p:cNvPr>
          <p:cNvSpPr/>
          <p:nvPr/>
        </p:nvSpPr>
        <p:spPr>
          <a:xfrm>
            <a:off x="762000" y="4267200"/>
            <a:ext cx="5207000" cy="200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B998C366-A03B-8AA1-263A-147292397611}"/>
              </a:ext>
            </a:extLst>
          </p:cNvPr>
          <p:cNvSpPr/>
          <p:nvPr/>
        </p:nvSpPr>
        <p:spPr>
          <a:xfrm>
            <a:off x="1066800" y="4572000"/>
            <a:ext cx="508000" cy="5080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54A714-C469-ADF8-F282-704B329143B9}"/>
              </a:ext>
            </a:extLst>
          </p:cNvPr>
          <p:cNvSpPr txBox="1"/>
          <p:nvPr/>
        </p:nvSpPr>
        <p:spPr>
          <a:xfrm>
            <a:off x="1066800" y="45720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C06A86-C1FF-AE1A-F888-77E5327686DC}"/>
              </a:ext>
            </a:extLst>
          </p:cNvPr>
          <p:cNvSpPr txBox="1"/>
          <p:nvPr/>
        </p:nvSpPr>
        <p:spPr>
          <a:xfrm>
            <a:off x="1778000" y="4597400"/>
            <a:ext cx="388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122A3E"/>
                </a:solidFill>
                <a:latin typeface="Segoe UI Semibold" panose="020B0702040204020203" pitchFamily="34" charset="0"/>
              </a:rPr>
              <a:t>Непрозрачный учёт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4FF6AA-19E8-4791-9DDE-2B80DAAAD620}"/>
              </a:ext>
            </a:extLst>
          </p:cNvPr>
          <p:cNvSpPr txBox="1"/>
          <p:nvPr/>
        </p:nvSpPr>
        <p:spPr>
          <a:xfrm>
            <a:off x="1778000" y="5029200"/>
            <a:ext cx="388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Кто в салоне, кто вышел, кто не вышел — всё на бумаге. Риск забытого ребёнка и неразберих с родителями.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3890CABD-34DC-CC75-65CA-80D60ACC6A5E}"/>
              </a:ext>
            </a:extLst>
          </p:cNvPr>
          <p:cNvSpPr/>
          <p:nvPr/>
        </p:nvSpPr>
        <p:spPr>
          <a:xfrm>
            <a:off x="6350000" y="4267200"/>
            <a:ext cx="5207000" cy="200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DE2CE3D-6D4B-FA2F-5FC2-824068E1D62B}"/>
              </a:ext>
            </a:extLst>
          </p:cNvPr>
          <p:cNvSpPr/>
          <p:nvPr/>
        </p:nvSpPr>
        <p:spPr>
          <a:xfrm>
            <a:off x="6654800" y="4572000"/>
            <a:ext cx="508000" cy="5080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3CEAF8-54B7-3D32-A38F-AF34FFD59E17}"/>
              </a:ext>
            </a:extLst>
          </p:cNvPr>
          <p:cNvSpPr txBox="1"/>
          <p:nvPr/>
        </p:nvSpPr>
        <p:spPr>
          <a:xfrm>
            <a:off x="6654800" y="45720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2B0F22-C76E-2B9C-3310-50F5BB38CCBC}"/>
              </a:ext>
            </a:extLst>
          </p:cNvPr>
          <p:cNvSpPr txBox="1"/>
          <p:nvPr/>
        </p:nvSpPr>
        <p:spPr>
          <a:xfrm>
            <a:off x="7366000" y="4597400"/>
            <a:ext cx="388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122A3E"/>
                </a:solidFill>
                <a:latin typeface="Segoe UI Semibold" panose="020B0702040204020203" pitchFamily="34" charset="0"/>
              </a:rPr>
              <a:t>Ручная рутина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1C462A-9D25-4EFA-C1C8-29E7D38A9F82}"/>
              </a:ext>
            </a:extLst>
          </p:cNvPr>
          <p:cNvSpPr txBox="1"/>
          <p:nvPr/>
        </p:nvSpPr>
        <p:spPr>
          <a:xfrm>
            <a:off x="7366000" y="5029200"/>
            <a:ext cx="3886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Объявления в чатах, списки, звонки: 20–30 минут в день на машину, и всё за одним телефоном водителя.</a:t>
            </a:r>
          </a:p>
        </p:txBody>
      </p:sp>
    </p:spTree>
    <p:extLst>
      <p:ext uri="{BB962C8B-B14F-4D97-AF65-F5344CB8AC3E}">
        <p14:creationId xmlns:p14="http://schemas.microsoft.com/office/powerpoint/2010/main" val="3892221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CB0DD64-A537-0446-75C0-D20D61F94E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8BF8B7F-6990-58C0-06C7-57A45FC0D97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636658-215D-A9D9-9489-1C924FD08361}"/>
              </a:ext>
            </a:extLst>
          </p:cNvPr>
          <p:cNvSpPr txBox="1"/>
          <p:nvPr/>
        </p:nvSpPr>
        <p:spPr>
          <a:xfrm>
            <a:off x="762000" y="558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 b="1">
                <a:solidFill>
                  <a:srgbClr val="E07A28"/>
                </a:solidFill>
                <a:latin typeface="Segoe UI Semibold" panose="020B0702040204020203" pitchFamily="34" charset="0"/>
              </a:rPr>
              <a:t>РЕШЕНИЕ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3E754-30A6-E922-BE01-035C44B4388C}"/>
              </a:ext>
            </a:extLst>
          </p:cNvPr>
          <p:cNvSpPr txBox="1"/>
          <p:nvPr/>
        </p:nvSpPr>
        <p:spPr>
          <a:xfrm>
            <a:off x="762000" y="838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900" b="1">
                <a:solidFill>
                  <a:srgbClr val="122A3E"/>
                </a:solidFill>
                <a:latin typeface="Segoe UI Semibold" panose="020B0702040204020203" pitchFamily="34" charset="0"/>
              </a:rPr>
              <a:t>Одно приложение — три роли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2533435-7160-B115-769C-B1398B058FAD}"/>
              </a:ext>
            </a:extLst>
          </p:cNvPr>
          <p:cNvSpPr/>
          <p:nvPr/>
        </p:nvSpPr>
        <p:spPr>
          <a:xfrm>
            <a:off x="762000" y="1498600"/>
            <a:ext cx="7112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C001C-BA31-F98D-0BC6-F2F1B33B45DC}"/>
              </a:ext>
            </a:extLst>
          </p:cNvPr>
          <p:cNvSpPr txBox="1"/>
          <p:nvPr/>
        </p:nvSpPr>
        <p:spPr>
          <a:xfrm>
            <a:off x="762000" y="6400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50">
                <a:solidFill>
                  <a:srgbClr val="5E6C7C"/>
                </a:solidFill>
                <a:latin typeface="Segoe UI" panose="020B0502040204020203" pitchFamily="34" charset="0"/>
              </a:rPr>
              <a:t>Школьный автобус · карта маршрутов и посадки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F922D-1330-6CBA-857E-6048703B7312}"/>
              </a:ext>
            </a:extLst>
          </p:cNvPr>
          <p:cNvSpPr txBox="1"/>
          <p:nvPr/>
        </p:nvSpPr>
        <p:spPr>
          <a:xfrm>
            <a:off x="10668000" y="6400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000">
                <a:solidFill>
                  <a:srgbClr val="5E6C7C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2043369-CD26-4545-8626-9BD59A0E0A51}"/>
              </a:ext>
            </a:extLst>
          </p:cNvPr>
          <p:cNvSpPr/>
          <p:nvPr/>
        </p:nvSpPr>
        <p:spPr>
          <a:xfrm>
            <a:off x="762000" y="1905000"/>
            <a:ext cx="3454400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82B98E35-D7D5-28D8-47B5-F62FCADE9C03}"/>
              </a:ext>
            </a:extLst>
          </p:cNvPr>
          <p:cNvSpPr/>
          <p:nvPr/>
        </p:nvSpPr>
        <p:spPr>
          <a:xfrm>
            <a:off x="1066800" y="2209800"/>
            <a:ext cx="584200" cy="5842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67B0C3-8B8F-4C52-6EB4-203D5254EFCC}"/>
              </a:ext>
            </a:extLst>
          </p:cNvPr>
          <p:cNvSpPr txBox="1"/>
          <p:nvPr/>
        </p:nvSpPr>
        <p:spPr>
          <a:xfrm>
            <a:off x="1066800" y="2209800"/>
            <a:ext cx="58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F98432-93D5-4E45-4ECA-038BD59C98BB}"/>
              </a:ext>
            </a:extLst>
          </p:cNvPr>
          <p:cNvSpPr txBox="1"/>
          <p:nvPr/>
        </p:nvSpPr>
        <p:spPr>
          <a:xfrm>
            <a:off x="1066800" y="29972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122A3E"/>
                </a:solidFill>
                <a:latin typeface="Segoe UI Semibold" panose="020B0702040204020203" pitchFamily="34" charset="0"/>
              </a:rPr>
              <a:t>Ученик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3B849C-EC9A-7FE5-DC6E-F38CF9EEF88F}"/>
              </a:ext>
            </a:extLst>
          </p:cNvPr>
          <p:cNvSpPr txBox="1"/>
          <p:nvPr/>
        </p:nvSpPr>
        <p:spPr>
          <a:xfrm>
            <a:off x="1066800" y="3581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Отмечает остановку прямо на карте и своё местоположение: дома, на остановке, в автобусе. Два касания — и водитель уже в курсе.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61C7A2D-F22B-979D-FBCD-EF04FDDEC56F}"/>
              </a:ext>
            </a:extLst>
          </p:cNvPr>
          <p:cNvSpPr/>
          <p:nvPr/>
        </p:nvSpPr>
        <p:spPr>
          <a:xfrm>
            <a:off x="4521200" y="1905000"/>
            <a:ext cx="3454400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BDF4AF6-D1F0-D47D-C41B-BDAFA73E8FBC}"/>
              </a:ext>
            </a:extLst>
          </p:cNvPr>
          <p:cNvSpPr/>
          <p:nvPr/>
        </p:nvSpPr>
        <p:spPr>
          <a:xfrm>
            <a:off x="4826000" y="2209800"/>
            <a:ext cx="584200" cy="5842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303D30-0462-18D4-4306-8F027C9B421A}"/>
              </a:ext>
            </a:extLst>
          </p:cNvPr>
          <p:cNvSpPr txBox="1"/>
          <p:nvPr/>
        </p:nvSpPr>
        <p:spPr>
          <a:xfrm>
            <a:off x="4826000" y="2209800"/>
            <a:ext cx="58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2AD000-C90F-8764-9B02-1D1218520AFA}"/>
              </a:ext>
            </a:extLst>
          </p:cNvPr>
          <p:cNvSpPr txBox="1"/>
          <p:nvPr/>
        </p:nvSpPr>
        <p:spPr>
          <a:xfrm>
            <a:off x="4826000" y="29972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122A3E"/>
                </a:solidFill>
                <a:latin typeface="Segoe UI Semibold" panose="020B0702040204020203" pitchFamily="34" charset="0"/>
              </a:rPr>
              <a:t>Водитель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38C37D-22F7-18DC-8931-0AE43F88BACF}"/>
              </a:ext>
            </a:extLst>
          </p:cNvPr>
          <p:cNvSpPr txBox="1"/>
          <p:nvPr/>
        </p:nvSpPr>
        <p:spPr>
          <a:xfrm>
            <a:off x="4826000" y="3581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Видит маршрут, который пересобирается под отметки: следующая остановка, ETA, кто ждёт, кто в салоне, кто не вышел.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626B1408-D219-4B88-9AD8-C22B16B1ED57}"/>
              </a:ext>
            </a:extLst>
          </p:cNvPr>
          <p:cNvSpPr/>
          <p:nvPr/>
        </p:nvSpPr>
        <p:spPr>
          <a:xfrm>
            <a:off x="8280400" y="1905000"/>
            <a:ext cx="3454400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67CD4CFA-9414-78BF-A615-880984B59039}"/>
              </a:ext>
            </a:extLst>
          </p:cNvPr>
          <p:cNvSpPr/>
          <p:nvPr/>
        </p:nvSpPr>
        <p:spPr>
          <a:xfrm>
            <a:off x="8585200" y="2209800"/>
            <a:ext cx="584200" cy="5842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8AB05F-EBF0-0DCA-5DE3-9ADF1A7BBC7E}"/>
              </a:ext>
            </a:extLst>
          </p:cNvPr>
          <p:cNvSpPr txBox="1"/>
          <p:nvPr/>
        </p:nvSpPr>
        <p:spPr>
          <a:xfrm>
            <a:off x="8585200" y="2209800"/>
            <a:ext cx="58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794473-933B-3047-FFD1-815D0E757DDE}"/>
              </a:ext>
            </a:extLst>
          </p:cNvPr>
          <p:cNvSpPr txBox="1"/>
          <p:nvPr/>
        </p:nvSpPr>
        <p:spPr>
          <a:xfrm>
            <a:off x="8585200" y="29972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122A3E"/>
                </a:solidFill>
                <a:latin typeface="Segoe UI Semibold" panose="020B0702040204020203" pitchFamily="34" charset="0"/>
              </a:rPr>
              <a:t>Школа и родители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346E04-979D-7D32-D393-5E84B685C967}"/>
              </a:ext>
            </a:extLst>
          </p:cNvPr>
          <p:cNvSpPr txBox="1"/>
          <p:nvPr/>
        </p:nvSpPr>
        <p:spPr>
          <a:xfrm>
            <a:off x="8585200" y="3581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Общая карта и общий список. Ответ на вопрос «когда автобус» — один взгляд на телефон, без единого звонка.</a:t>
            </a:r>
          </a:p>
        </p:txBody>
      </p:sp>
    </p:spTree>
    <p:extLst>
      <p:ext uri="{BB962C8B-B14F-4D97-AF65-F5344CB8AC3E}">
        <p14:creationId xmlns:p14="http://schemas.microsoft.com/office/powerpoint/2010/main" val="2177360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C245C47-CE1B-94F4-2406-260C15285C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8B1EFDB-9F51-26C5-8381-6A993678EAA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FC2A04-6283-699B-D0E3-A968190B37EB}"/>
              </a:ext>
            </a:extLst>
          </p:cNvPr>
          <p:cNvSpPr txBox="1"/>
          <p:nvPr/>
        </p:nvSpPr>
        <p:spPr>
          <a:xfrm>
            <a:off x="762000" y="558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 b="1">
                <a:solidFill>
                  <a:srgbClr val="E07A28"/>
                </a:solidFill>
                <a:latin typeface="Segoe UI Semibold" panose="020B0702040204020203" pitchFamily="34" charset="0"/>
              </a:rPr>
              <a:t>МЕХАНИКА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6F1AE-C998-07BB-57C2-D7C27A602BFA}"/>
              </a:ext>
            </a:extLst>
          </p:cNvPr>
          <p:cNvSpPr txBox="1"/>
          <p:nvPr/>
        </p:nvSpPr>
        <p:spPr>
          <a:xfrm>
            <a:off x="762000" y="838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900" b="1">
                <a:solidFill>
                  <a:srgbClr val="122A3E"/>
                </a:solidFill>
                <a:latin typeface="Segoe UI Semibold" panose="020B0702040204020203" pitchFamily="34" charset="0"/>
              </a:rPr>
              <a:t>Как это работает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83C520E-00B1-935B-5BD2-8DE5C9E8FDC5}"/>
              </a:ext>
            </a:extLst>
          </p:cNvPr>
          <p:cNvSpPr/>
          <p:nvPr/>
        </p:nvSpPr>
        <p:spPr>
          <a:xfrm>
            <a:off x="762000" y="1498600"/>
            <a:ext cx="7112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9BB71E-425A-B442-E8E7-189DEDE95325}"/>
              </a:ext>
            </a:extLst>
          </p:cNvPr>
          <p:cNvSpPr txBox="1"/>
          <p:nvPr/>
        </p:nvSpPr>
        <p:spPr>
          <a:xfrm>
            <a:off x="762000" y="6400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50">
                <a:solidFill>
                  <a:srgbClr val="5E6C7C"/>
                </a:solidFill>
                <a:latin typeface="Segoe UI" panose="020B0502040204020203" pitchFamily="34" charset="0"/>
              </a:rPr>
              <a:t>Школьный автобус · карта маршрутов и посадки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BE407A-456A-2B17-CC3A-19A711543FE4}"/>
              </a:ext>
            </a:extLst>
          </p:cNvPr>
          <p:cNvSpPr txBox="1"/>
          <p:nvPr/>
        </p:nvSpPr>
        <p:spPr>
          <a:xfrm>
            <a:off x="10668000" y="6400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000">
                <a:solidFill>
                  <a:srgbClr val="5E6C7C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783F78FA-73B2-CFC0-71CB-FAEEE273F55C}"/>
              </a:ext>
            </a:extLst>
          </p:cNvPr>
          <p:cNvSpPr/>
          <p:nvPr/>
        </p:nvSpPr>
        <p:spPr>
          <a:xfrm>
            <a:off x="762000" y="2006600"/>
            <a:ext cx="508000" cy="5080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90C04A-1C60-5722-9743-2550F38A63E2}"/>
              </a:ext>
            </a:extLst>
          </p:cNvPr>
          <p:cNvSpPr txBox="1"/>
          <p:nvPr/>
        </p:nvSpPr>
        <p:spPr>
          <a:xfrm>
            <a:off x="762000" y="20066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722EDB-41CF-76A9-9EA1-B573FA357D46}"/>
              </a:ext>
            </a:extLst>
          </p:cNvPr>
          <p:cNvSpPr txBox="1"/>
          <p:nvPr/>
        </p:nvSpPr>
        <p:spPr>
          <a:xfrm>
            <a:off x="1447800" y="19939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50" b="1">
                <a:solidFill>
                  <a:srgbClr val="122A3E"/>
                </a:solidFill>
                <a:latin typeface="Segoe UI Semibold" panose="020B0702040204020203" pitchFamily="34" charset="0"/>
              </a:rPr>
              <a:t>Отметка остановки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F055B9-2DAF-C8E7-1259-174580103B13}"/>
              </a:ext>
            </a:extLst>
          </p:cNvPr>
          <p:cNvSpPr txBox="1"/>
          <p:nvPr/>
        </p:nvSpPr>
        <p:spPr>
          <a:xfrm>
            <a:off x="1447800" y="23241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>
                <a:solidFill>
                  <a:srgbClr val="5E6C7C"/>
                </a:solidFill>
                <a:latin typeface="Segoe UI" panose="020B0502040204020203" pitchFamily="34" charset="0"/>
              </a:rPr>
              <a:t>Ученик жмёт «отметить остановку» и выбирает точку на карте.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94A3B33-05C8-2107-1EB6-48D4FD388285}"/>
              </a:ext>
            </a:extLst>
          </p:cNvPr>
          <p:cNvSpPr/>
          <p:nvPr/>
        </p:nvSpPr>
        <p:spPr>
          <a:xfrm>
            <a:off x="1003300" y="2514600"/>
            <a:ext cx="25400" cy="558800"/>
          </a:xfrm>
          <a:prstGeom prst="rect">
            <a:avLst/>
          </a:prstGeom>
          <a:solidFill>
            <a:srgbClr val="DFE5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B90C741-7B71-88F1-9AF8-62E64ED6BC1D}"/>
              </a:ext>
            </a:extLst>
          </p:cNvPr>
          <p:cNvSpPr/>
          <p:nvPr/>
        </p:nvSpPr>
        <p:spPr>
          <a:xfrm>
            <a:off x="762000" y="3073400"/>
            <a:ext cx="508000" cy="5080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58B87D-B625-4986-54B9-68C7D6E83A5B}"/>
              </a:ext>
            </a:extLst>
          </p:cNvPr>
          <p:cNvSpPr txBox="1"/>
          <p:nvPr/>
        </p:nvSpPr>
        <p:spPr>
          <a:xfrm>
            <a:off x="762000" y="3073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E69EC1-486F-4DAA-7E71-11FBCA2CFEB9}"/>
              </a:ext>
            </a:extLst>
          </p:cNvPr>
          <p:cNvSpPr txBox="1"/>
          <p:nvPr/>
        </p:nvSpPr>
        <p:spPr>
          <a:xfrm>
            <a:off x="1447800" y="30607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50" b="1">
                <a:solidFill>
                  <a:srgbClr val="122A3E"/>
                </a:solidFill>
                <a:latin typeface="Segoe UI Semibold" panose="020B0702040204020203" pitchFamily="34" charset="0"/>
              </a:rPr>
              <a:t>Статус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EE6BEF-4F7D-17DF-1C93-317A694587A8}"/>
              </a:ext>
            </a:extLst>
          </p:cNvPr>
          <p:cNvSpPr txBox="1"/>
          <p:nvPr/>
        </p:nvSpPr>
        <p:spPr>
          <a:xfrm>
            <a:off x="1447800" y="33909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>
                <a:solidFill>
                  <a:srgbClr val="5E6C7C"/>
                </a:solidFill>
                <a:latin typeface="Segoe UI" panose="020B0502040204020203" pitchFamily="34" charset="0"/>
              </a:rPr>
              <a:t>Дома / на остановке / в автобусе — меняется одним касанием.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89355CD-5160-FBF1-9DDA-703906783AD9}"/>
              </a:ext>
            </a:extLst>
          </p:cNvPr>
          <p:cNvSpPr/>
          <p:nvPr/>
        </p:nvSpPr>
        <p:spPr>
          <a:xfrm>
            <a:off x="1003300" y="3581400"/>
            <a:ext cx="25400" cy="558800"/>
          </a:xfrm>
          <a:prstGeom prst="rect">
            <a:avLst/>
          </a:prstGeom>
          <a:solidFill>
            <a:srgbClr val="DFE5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81FA82C1-5AF1-A310-4474-101994AA44B2}"/>
              </a:ext>
            </a:extLst>
          </p:cNvPr>
          <p:cNvSpPr/>
          <p:nvPr/>
        </p:nvSpPr>
        <p:spPr>
          <a:xfrm>
            <a:off x="762000" y="4140200"/>
            <a:ext cx="508000" cy="5080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1306DF-5743-B398-8362-7516EA17FC2C}"/>
              </a:ext>
            </a:extLst>
          </p:cNvPr>
          <p:cNvSpPr txBox="1"/>
          <p:nvPr/>
        </p:nvSpPr>
        <p:spPr>
          <a:xfrm>
            <a:off x="762000" y="4140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8758B7-7983-058B-9E97-0E99A5FBD5F3}"/>
              </a:ext>
            </a:extLst>
          </p:cNvPr>
          <p:cNvSpPr txBox="1"/>
          <p:nvPr/>
        </p:nvSpPr>
        <p:spPr>
          <a:xfrm>
            <a:off x="1447800" y="41275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50" b="1">
                <a:solidFill>
                  <a:srgbClr val="122A3E"/>
                </a:solidFill>
                <a:latin typeface="Segoe UI Semibold" panose="020B0702040204020203" pitchFamily="34" charset="0"/>
              </a:rPr>
              <a:t>Пересборка маршрута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CC3C94-D473-B37B-D5EE-50C7267C8875}"/>
              </a:ext>
            </a:extLst>
          </p:cNvPr>
          <p:cNvSpPr txBox="1"/>
          <p:nvPr/>
        </p:nvSpPr>
        <p:spPr>
          <a:xfrm>
            <a:off x="1447800" y="44577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>
                <a:solidFill>
                  <a:srgbClr val="5E6C7C"/>
                </a:solidFill>
                <a:latin typeface="Segoe UI" panose="020B0502040204020203" pitchFamily="34" charset="0"/>
              </a:rPr>
              <a:t>Новая остановка вставляется в рейс в ближайшее по пути место.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691687A-E3BF-CEA9-1C64-7915E49C2F08}"/>
              </a:ext>
            </a:extLst>
          </p:cNvPr>
          <p:cNvSpPr/>
          <p:nvPr/>
        </p:nvSpPr>
        <p:spPr>
          <a:xfrm>
            <a:off x="1003300" y="4648200"/>
            <a:ext cx="25400" cy="558800"/>
          </a:xfrm>
          <a:prstGeom prst="rect">
            <a:avLst/>
          </a:prstGeom>
          <a:solidFill>
            <a:srgbClr val="DFE5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38F0F05E-92C2-D752-0E91-07220AB9556D}"/>
              </a:ext>
            </a:extLst>
          </p:cNvPr>
          <p:cNvSpPr/>
          <p:nvPr/>
        </p:nvSpPr>
        <p:spPr>
          <a:xfrm>
            <a:off x="762000" y="5207000"/>
            <a:ext cx="508000" cy="5080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1AD307-6FE2-B750-2A21-7B395AB4B46F}"/>
              </a:ext>
            </a:extLst>
          </p:cNvPr>
          <p:cNvSpPr txBox="1"/>
          <p:nvPr/>
        </p:nvSpPr>
        <p:spPr>
          <a:xfrm>
            <a:off x="762000" y="52070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F427D5-BBB1-0ACF-EA0D-D627EA0FA527}"/>
              </a:ext>
            </a:extLst>
          </p:cNvPr>
          <p:cNvSpPr txBox="1"/>
          <p:nvPr/>
        </p:nvSpPr>
        <p:spPr>
          <a:xfrm>
            <a:off x="1447800" y="51943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50" b="1">
                <a:solidFill>
                  <a:srgbClr val="122A3E"/>
                </a:solidFill>
                <a:latin typeface="Segoe UI Semibold" panose="020B0702040204020203" pitchFamily="34" charset="0"/>
              </a:rPr>
              <a:t>Движение по кольцу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CEB7DB-63F5-69C2-93DC-F9FACF42D410}"/>
              </a:ext>
            </a:extLst>
          </p:cNvPr>
          <p:cNvSpPr txBox="1"/>
          <p:nvPr/>
        </p:nvSpPr>
        <p:spPr>
          <a:xfrm>
            <a:off x="1447800" y="55245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>
                <a:solidFill>
                  <a:srgbClr val="5E6C7C"/>
                </a:solidFill>
                <a:latin typeface="Segoe UI" panose="020B0502040204020203" pitchFamily="34" charset="0"/>
              </a:rPr>
              <a:t>Автобус едет по реальным дорогам, ETA считается по дорожному графу.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DCF494F7-889C-ECA9-A207-D44C201CFB1B}"/>
              </a:ext>
            </a:extLst>
          </p:cNvPr>
          <p:cNvSpPr/>
          <p:nvPr/>
        </p:nvSpPr>
        <p:spPr>
          <a:xfrm>
            <a:off x="6350000" y="2006600"/>
            <a:ext cx="508000" cy="5080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3423FA-8CC5-7368-4BBC-8B85A4F811E2}"/>
              </a:ext>
            </a:extLst>
          </p:cNvPr>
          <p:cNvSpPr txBox="1"/>
          <p:nvPr/>
        </p:nvSpPr>
        <p:spPr>
          <a:xfrm>
            <a:off x="6350000" y="20066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354CC5-E20F-5AFF-FA57-23C94D521EB0}"/>
              </a:ext>
            </a:extLst>
          </p:cNvPr>
          <p:cNvSpPr txBox="1"/>
          <p:nvPr/>
        </p:nvSpPr>
        <p:spPr>
          <a:xfrm>
            <a:off x="7035800" y="19939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50" b="1">
                <a:solidFill>
                  <a:srgbClr val="122A3E"/>
                </a:solidFill>
                <a:latin typeface="Segoe UI Semibold" panose="020B0702040204020203" pitchFamily="34" charset="0"/>
              </a:rPr>
              <a:t>Посадка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59C323-0D39-129C-E39A-265FB7BCF591}"/>
              </a:ext>
            </a:extLst>
          </p:cNvPr>
          <p:cNvSpPr txBox="1"/>
          <p:nvPr/>
        </p:nvSpPr>
        <p:spPr>
          <a:xfrm>
            <a:off x="7035800" y="23241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>
                <a:solidFill>
                  <a:srgbClr val="5E6C7C"/>
                </a:solidFill>
                <a:latin typeface="Segoe UI" panose="020B0502040204020203" pitchFamily="34" charset="0"/>
              </a:rPr>
              <a:t>Прибытие на остановку: ученики поднимают статус, водитель видит имена.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6207F077-C1F7-F1B8-C3FD-7A69E044AFAB}"/>
              </a:ext>
            </a:extLst>
          </p:cNvPr>
          <p:cNvSpPr/>
          <p:nvPr/>
        </p:nvSpPr>
        <p:spPr>
          <a:xfrm>
            <a:off x="6591300" y="2514600"/>
            <a:ext cx="25400" cy="558800"/>
          </a:xfrm>
          <a:prstGeom prst="rect">
            <a:avLst/>
          </a:prstGeom>
          <a:solidFill>
            <a:srgbClr val="DFE5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688BE13B-B6D0-BD14-E290-4A0CB2D90ACA}"/>
              </a:ext>
            </a:extLst>
          </p:cNvPr>
          <p:cNvSpPr/>
          <p:nvPr/>
        </p:nvSpPr>
        <p:spPr>
          <a:xfrm>
            <a:off x="6350000" y="3073400"/>
            <a:ext cx="508000" cy="5080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2A908A-8B7C-F15F-D8A5-4E573C5CE68B}"/>
              </a:ext>
            </a:extLst>
          </p:cNvPr>
          <p:cNvSpPr txBox="1"/>
          <p:nvPr/>
        </p:nvSpPr>
        <p:spPr>
          <a:xfrm>
            <a:off x="6350000" y="3073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D9E387-59D7-ADE2-F660-B38BC45F69D3}"/>
              </a:ext>
            </a:extLst>
          </p:cNvPr>
          <p:cNvSpPr txBox="1"/>
          <p:nvPr/>
        </p:nvSpPr>
        <p:spPr>
          <a:xfrm>
            <a:off x="7035800" y="30607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50" b="1">
                <a:solidFill>
                  <a:srgbClr val="122A3E"/>
                </a:solidFill>
                <a:latin typeface="Segoe UI Semibold" panose="020B0702040204020203" pitchFamily="34" charset="0"/>
              </a:rPr>
              <a:t>Учёт в салоне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DF8387-9A82-FB07-439D-9EAB157FEBDE}"/>
              </a:ext>
            </a:extLst>
          </p:cNvPr>
          <p:cNvSpPr txBox="1"/>
          <p:nvPr/>
        </p:nvSpPr>
        <p:spPr>
          <a:xfrm>
            <a:off x="7035800" y="33909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>
                <a:solidFill>
                  <a:srgbClr val="5E6C7C"/>
                </a:solidFill>
                <a:latin typeface="Segoe UI" panose="020B0502040204020203" pitchFamily="34" charset="0"/>
              </a:rPr>
              <a:t>Манифест: кто в автобусе, кто вышел у школы.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61E1CD3E-E302-4ABC-0B29-757E19E84139}"/>
              </a:ext>
            </a:extLst>
          </p:cNvPr>
          <p:cNvSpPr/>
          <p:nvPr/>
        </p:nvSpPr>
        <p:spPr>
          <a:xfrm>
            <a:off x="6591300" y="3581400"/>
            <a:ext cx="25400" cy="558800"/>
          </a:xfrm>
          <a:prstGeom prst="rect">
            <a:avLst/>
          </a:prstGeom>
          <a:solidFill>
            <a:srgbClr val="DFE5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CE1244CB-2B69-B452-27CE-2CF249BDCC59}"/>
              </a:ext>
            </a:extLst>
          </p:cNvPr>
          <p:cNvSpPr/>
          <p:nvPr/>
        </p:nvSpPr>
        <p:spPr>
          <a:xfrm>
            <a:off x="6350000" y="4140200"/>
            <a:ext cx="508000" cy="5080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BCF79C-581C-702A-5ED8-5385543B0A39}"/>
              </a:ext>
            </a:extLst>
          </p:cNvPr>
          <p:cNvSpPr txBox="1"/>
          <p:nvPr/>
        </p:nvSpPr>
        <p:spPr>
          <a:xfrm>
            <a:off x="6350000" y="4140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500" b="1">
                <a:solidFill>
                  <a:srgbClr val="FFFFFF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5630BB-B72A-140A-3D8C-67DA3AFFB856}"/>
              </a:ext>
            </a:extLst>
          </p:cNvPr>
          <p:cNvSpPr txBox="1"/>
          <p:nvPr/>
        </p:nvSpPr>
        <p:spPr>
          <a:xfrm>
            <a:off x="7035800" y="41275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550" b="1">
                <a:solidFill>
                  <a:srgbClr val="122A3E"/>
                </a:solidFill>
                <a:latin typeface="Segoe UI Semibold" panose="020B0702040204020203" pitchFamily="34" charset="0"/>
              </a:rPr>
              <a:t>Контроль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63CE1C-BC60-64A1-CF6D-6B4A7EDFB994}"/>
              </a:ext>
            </a:extLst>
          </p:cNvPr>
          <p:cNvSpPr txBox="1"/>
          <p:nvPr/>
        </p:nvSpPr>
        <p:spPr>
          <a:xfrm>
            <a:off x="7035800" y="4457700"/>
            <a:ext cx="439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>
                <a:solidFill>
                  <a:srgbClr val="5E6C7C"/>
                </a:solidFill>
                <a:latin typeface="Segoe UI" panose="020B0502040204020203" pitchFamily="34" charset="0"/>
              </a:rPr>
              <a:t>«Не вышел» — водитель объезжает адресно, а не весь круг.</a:t>
            </a:r>
          </a:p>
        </p:txBody>
      </p:sp>
    </p:spTree>
    <p:extLst>
      <p:ext uri="{BB962C8B-B14F-4D97-AF65-F5344CB8AC3E}">
        <p14:creationId xmlns:p14="http://schemas.microsoft.com/office/powerpoint/2010/main" val="1256365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0C1B1A9-3D5D-E578-EE3A-CE4CFDA182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82780AA-8929-DB4A-7392-83D2C0E069E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82ED3-D909-29E2-95FA-82F101E323A2}"/>
              </a:ext>
            </a:extLst>
          </p:cNvPr>
          <p:cNvSpPr txBox="1"/>
          <p:nvPr/>
        </p:nvSpPr>
        <p:spPr>
          <a:xfrm>
            <a:off x="762000" y="558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 b="1">
                <a:solidFill>
                  <a:srgbClr val="E07A28"/>
                </a:solidFill>
                <a:latin typeface="Segoe UI Semibold" panose="020B0702040204020203" pitchFamily="34" charset="0"/>
              </a:rPr>
              <a:t>РОЛЬ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5237C2-BB16-0CFD-BB6F-21EBA27A88D5}"/>
              </a:ext>
            </a:extLst>
          </p:cNvPr>
          <p:cNvSpPr txBox="1"/>
          <p:nvPr/>
        </p:nvSpPr>
        <p:spPr>
          <a:xfrm>
            <a:off x="762000" y="838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900" b="1">
                <a:solidFill>
                  <a:srgbClr val="122A3E"/>
                </a:solidFill>
                <a:latin typeface="Segoe UI Semibold" panose="020B0702040204020203" pitchFamily="34" charset="0"/>
              </a:rPr>
              <a:t>Что видит водитель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8145AA6-3F22-D0D4-35AA-1260BCCC60D5}"/>
              </a:ext>
            </a:extLst>
          </p:cNvPr>
          <p:cNvSpPr/>
          <p:nvPr/>
        </p:nvSpPr>
        <p:spPr>
          <a:xfrm>
            <a:off x="762000" y="1498600"/>
            <a:ext cx="7112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AC55D6-2236-3B32-BE6B-1EF1CCF77E88}"/>
              </a:ext>
            </a:extLst>
          </p:cNvPr>
          <p:cNvSpPr txBox="1"/>
          <p:nvPr/>
        </p:nvSpPr>
        <p:spPr>
          <a:xfrm>
            <a:off x="762000" y="6400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50">
                <a:solidFill>
                  <a:srgbClr val="5E6C7C"/>
                </a:solidFill>
                <a:latin typeface="Segoe UI" panose="020B0502040204020203" pitchFamily="34" charset="0"/>
              </a:rPr>
              <a:t>Школьный автобус · карта маршрутов и посадки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7578F-6EDF-E515-78A0-01CAB60AC1C6}"/>
              </a:ext>
            </a:extLst>
          </p:cNvPr>
          <p:cNvSpPr txBox="1"/>
          <p:nvPr/>
        </p:nvSpPr>
        <p:spPr>
          <a:xfrm>
            <a:off x="10668000" y="6400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000">
                <a:solidFill>
                  <a:srgbClr val="5E6C7C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6245B06E-E187-10A4-B070-A8279025DA48}"/>
              </a:ext>
            </a:extLst>
          </p:cNvPr>
          <p:cNvSpPr/>
          <p:nvPr/>
        </p:nvSpPr>
        <p:spPr>
          <a:xfrm>
            <a:off x="762000" y="1905000"/>
            <a:ext cx="52070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35D850B-E022-CBB5-84E0-923AC2303B3B}"/>
              </a:ext>
            </a:extLst>
          </p:cNvPr>
          <p:cNvSpPr/>
          <p:nvPr/>
        </p:nvSpPr>
        <p:spPr>
          <a:xfrm>
            <a:off x="762000" y="1905000"/>
            <a:ext cx="52070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DE17B-E966-1911-402E-32DDB761B2CA}"/>
              </a:ext>
            </a:extLst>
          </p:cNvPr>
          <p:cNvSpPr txBox="1"/>
          <p:nvPr/>
        </p:nvSpPr>
        <p:spPr>
          <a:xfrm>
            <a:off x="1092200" y="2260600"/>
            <a:ext cx="4546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>
                <a:solidFill>
                  <a:srgbClr val="122A3E"/>
                </a:solidFill>
                <a:latin typeface="Segoe UI Semibold" panose="020B0702040204020203" pitchFamily="34" charset="0"/>
              </a:rPr>
              <a:t>Маршрут с посадками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10FBA3-89AE-B5A6-36D9-97C91E279993}"/>
              </a:ext>
            </a:extLst>
          </p:cNvPr>
          <p:cNvSpPr txBox="1"/>
          <p:nvPr/>
        </p:nvSpPr>
        <p:spPr>
          <a:xfrm>
            <a:off x="1092200" y="2819400"/>
            <a:ext cx="4546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5E6C7C"/>
                </a:solidFill>
                <a:latin typeface="Segoe UI" panose="020B0502040204020203" pitchFamily="34" charset="0"/>
              </a:rPr>
              <a:t>Следующая остановка и время прибытия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5E6C7C"/>
                </a:solidFill>
                <a:latin typeface="Segoe UI" panose="020B0502040204020203" pitchFamily="34" charset="0"/>
              </a:rPr>
              <a:t>Список остановок по кругу с именами ожидающих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5E6C7C"/>
                </a:solidFill>
                <a:latin typeface="Segoe UI" panose="020B0502040204020203" pitchFamily="34" charset="0"/>
              </a:rPr>
              <a:t>Остановки без пассажиров — «проезд без остановки»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5E6C7C"/>
                </a:solidFill>
                <a:latin typeface="Segoe UI" panose="020B0502040204020203" pitchFamily="34" charset="0"/>
              </a:rPr>
              <a:t>Переключение между тремя автобусами линии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5E6C7C"/>
                </a:solidFill>
                <a:latin typeface="Segoe UI" panose="020B0502040204020203" pitchFamily="34" charset="0"/>
              </a:rPr>
              <a:t>Пройденные остановки помечены серым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96B9371C-4742-BBB4-3472-6E3794255AFA}"/>
              </a:ext>
            </a:extLst>
          </p:cNvPr>
          <p:cNvSpPr/>
          <p:nvPr/>
        </p:nvSpPr>
        <p:spPr>
          <a:xfrm>
            <a:off x="6350000" y="1905000"/>
            <a:ext cx="5207000" cy="3810000"/>
          </a:xfrm>
          <a:prstGeom prst="roundRect">
            <a:avLst>
              <a:gd name="adj" fmla="val 5000"/>
            </a:avLst>
          </a:prstGeom>
          <a:solidFill>
            <a:srgbClr val="122A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CF85EF0-6081-4999-771B-AE3A18A7A946}"/>
              </a:ext>
            </a:extLst>
          </p:cNvPr>
          <p:cNvSpPr/>
          <p:nvPr/>
        </p:nvSpPr>
        <p:spPr>
          <a:xfrm>
            <a:off x="6350000" y="1905000"/>
            <a:ext cx="52070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772972-4BE8-DDA1-0D79-F34E4B93176D}"/>
              </a:ext>
            </a:extLst>
          </p:cNvPr>
          <p:cNvSpPr txBox="1"/>
          <p:nvPr/>
        </p:nvSpPr>
        <p:spPr>
          <a:xfrm>
            <a:off x="6680200" y="2260600"/>
            <a:ext cx="4546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>
                <a:solidFill>
                  <a:srgbClr val="FFFFFF"/>
                </a:solidFill>
                <a:latin typeface="Segoe UI Semibold" panose="020B0702040204020203" pitchFamily="34" charset="0"/>
              </a:rPr>
              <a:t>Тревоги и учёт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527B9E-B010-FEC7-3FB0-E1127356A316}"/>
              </a:ext>
            </a:extLst>
          </p:cNvPr>
          <p:cNvSpPr txBox="1"/>
          <p:nvPr/>
        </p:nvSpPr>
        <p:spPr>
          <a:xfrm>
            <a:off x="6680200" y="2819400"/>
            <a:ext cx="4546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ECF1F7"/>
                </a:solidFill>
                <a:latin typeface="Segoe UI" panose="020B0502040204020203" pitchFamily="34" charset="0"/>
              </a:rPr>
              <a:t>«Не вышел» — адресный объезд вместо обхода кольца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ECF1F7"/>
                </a:solidFill>
                <a:latin typeface="Segoe UI" panose="020B0502040204020203" pitchFamily="34" charset="0"/>
              </a:rPr>
              <a:t>Манифест: список детей в салоне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ECF1F7"/>
                </a:solidFill>
                <a:latin typeface="Segoe UI" panose="020B0502040204020203" pitchFamily="34" charset="0"/>
              </a:rPr>
              <a:t>Свободные места: 28, 32 и 24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ECF1F7"/>
                </a:solidFill>
                <a:latin typeface="Segoe UI" panose="020B0502040204020203" pitchFamily="34" charset="0"/>
              </a:rPr>
              <a:t>Ученики без отмеченной остановки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ECF1F7"/>
                </a:solidFill>
                <a:latin typeface="Segoe UI" panose="020B0502040204020203" pitchFamily="34" charset="0"/>
              </a:rPr>
              <a:t>Круг считается автоматически, ETA — по дорогам</a:t>
            </a:r>
          </a:p>
        </p:txBody>
      </p:sp>
    </p:spTree>
    <p:extLst>
      <p:ext uri="{BB962C8B-B14F-4D97-AF65-F5344CB8AC3E}">
        <p14:creationId xmlns:p14="http://schemas.microsoft.com/office/powerpoint/2010/main" val="3178611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C81B7F9-0E40-8EB0-8926-67F32CD798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92053A2-C5C7-C43F-E793-86827D0189C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EDE3E0-CAEF-F27C-04A0-8C2726DCAE47}"/>
              </a:ext>
            </a:extLst>
          </p:cNvPr>
          <p:cNvSpPr txBox="1"/>
          <p:nvPr/>
        </p:nvSpPr>
        <p:spPr>
          <a:xfrm>
            <a:off x="762000" y="558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 b="1">
                <a:solidFill>
                  <a:srgbClr val="E07A28"/>
                </a:solidFill>
                <a:latin typeface="Segoe UI Semibold" panose="020B0702040204020203" pitchFamily="34" charset="0"/>
              </a:rPr>
              <a:t>РОЛЬ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10B000-449B-F61D-F597-4857DE77EFEE}"/>
              </a:ext>
            </a:extLst>
          </p:cNvPr>
          <p:cNvSpPr txBox="1"/>
          <p:nvPr/>
        </p:nvSpPr>
        <p:spPr>
          <a:xfrm>
            <a:off x="762000" y="838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900" b="1">
                <a:solidFill>
                  <a:srgbClr val="122A3E"/>
                </a:solidFill>
                <a:latin typeface="Segoe UI Semibold" panose="020B0702040204020203" pitchFamily="34" charset="0"/>
              </a:rPr>
              <a:t>Что видит ученик и родитель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5E58225-D549-9A29-3856-5CF32C526D2E}"/>
              </a:ext>
            </a:extLst>
          </p:cNvPr>
          <p:cNvSpPr/>
          <p:nvPr/>
        </p:nvSpPr>
        <p:spPr>
          <a:xfrm>
            <a:off x="762000" y="1498600"/>
            <a:ext cx="7112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C20F2-FC2C-CA2D-178F-4736E64F9294}"/>
              </a:ext>
            </a:extLst>
          </p:cNvPr>
          <p:cNvSpPr txBox="1"/>
          <p:nvPr/>
        </p:nvSpPr>
        <p:spPr>
          <a:xfrm>
            <a:off x="762000" y="6400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50">
                <a:solidFill>
                  <a:srgbClr val="5E6C7C"/>
                </a:solidFill>
                <a:latin typeface="Segoe UI" panose="020B0502040204020203" pitchFamily="34" charset="0"/>
              </a:rPr>
              <a:t>Школьный автобус · карта маршрутов и посадки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04718A-69D5-F5A3-FAC9-46105613A0FA}"/>
              </a:ext>
            </a:extLst>
          </p:cNvPr>
          <p:cNvSpPr txBox="1"/>
          <p:nvPr/>
        </p:nvSpPr>
        <p:spPr>
          <a:xfrm>
            <a:off x="10668000" y="6400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000">
                <a:solidFill>
                  <a:srgbClr val="5E6C7C"/>
                </a:solidFill>
                <a:latin typeface="Segoe UI" panose="020B0502040204020203" pitchFamily="34" charset="0"/>
              </a:rPr>
              <a:t>6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14E5F1C-0876-3207-D833-153CFF0F7C31}"/>
              </a:ext>
            </a:extLst>
          </p:cNvPr>
          <p:cNvSpPr/>
          <p:nvPr/>
        </p:nvSpPr>
        <p:spPr>
          <a:xfrm>
            <a:off x="762000" y="1905000"/>
            <a:ext cx="52070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2437807-82D8-333B-330B-512AC46E1367}"/>
              </a:ext>
            </a:extLst>
          </p:cNvPr>
          <p:cNvSpPr/>
          <p:nvPr/>
        </p:nvSpPr>
        <p:spPr>
          <a:xfrm>
            <a:off x="762000" y="1905000"/>
            <a:ext cx="52070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507725-6830-DD66-FDA0-FA887CCD5A00}"/>
              </a:ext>
            </a:extLst>
          </p:cNvPr>
          <p:cNvSpPr txBox="1"/>
          <p:nvPr/>
        </p:nvSpPr>
        <p:spPr>
          <a:xfrm>
            <a:off x="1092200" y="2260600"/>
            <a:ext cx="4546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>
                <a:solidFill>
                  <a:srgbClr val="122A3E"/>
                </a:solidFill>
                <a:latin typeface="Segoe UI Semibold" panose="020B0702040204020203" pitchFamily="34" charset="0"/>
              </a:rPr>
              <a:t>Ученик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40309D-3C13-D827-0C85-084225011718}"/>
              </a:ext>
            </a:extLst>
          </p:cNvPr>
          <p:cNvSpPr txBox="1"/>
          <p:nvPr/>
        </p:nvSpPr>
        <p:spPr>
          <a:xfrm>
            <a:off x="1092200" y="2819400"/>
            <a:ext cx="4546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5E6C7C"/>
                </a:solidFill>
                <a:latin typeface="Segoe UI" panose="020B0502040204020203" pitchFamily="34" charset="0"/>
              </a:rPr>
              <a:t>Где мой автобус — прямо на карте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5E6C7C"/>
                </a:solidFill>
                <a:latin typeface="Segoe UI" panose="020B0502040204020203" pitchFamily="34" charset="0"/>
              </a:rPr>
              <a:t>Через сколько минут подъедет к моей остановке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5E6C7C"/>
                </a:solidFill>
                <a:latin typeface="Segoe UI" panose="020B0502040204020203" pitchFamily="34" charset="0"/>
              </a:rPr>
              <a:t>Моя остановка — в одно касание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5E6C7C"/>
                </a:solidFill>
                <a:latin typeface="Segoe UI" panose="020B0502040204020203" pitchFamily="34" charset="0"/>
              </a:rPr>
              <a:t>Список остановок рядом с домом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5E6C7C"/>
                </a:solidFill>
                <a:latin typeface="Segoe UI" panose="020B0502040204020203" pitchFamily="34" charset="0"/>
              </a:rPr>
              <a:t>Школы на маршруте отмечены отдельным знаком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C2E7926-1126-8AF7-8248-EDDFF752710D}"/>
              </a:ext>
            </a:extLst>
          </p:cNvPr>
          <p:cNvSpPr/>
          <p:nvPr/>
        </p:nvSpPr>
        <p:spPr>
          <a:xfrm>
            <a:off x="6350000" y="1905000"/>
            <a:ext cx="52070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E87FDC3-DEBD-3DE3-9D90-1178ECE8268B}"/>
              </a:ext>
            </a:extLst>
          </p:cNvPr>
          <p:cNvSpPr/>
          <p:nvPr/>
        </p:nvSpPr>
        <p:spPr>
          <a:xfrm>
            <a:off x="6350000" y="1905000"/>
            <a:ext cx="52070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9E0ECC-E7F7-D966-8F31-72EE58CD0955}"/>
              </a:ext>
            </a:extLst>
          </p:cNvPr>
          <p:cNvSpPr txBox="1"/>
          <p:nvPr/>
        </p:nvSpPr>
        <p:spPr>
          <a:xfrm>
            <a:off x="6680200" y="2260600"/>
            <a:ext cx="4546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b="1">
                <a:solidFill>
                  <a:srgbClr val="122A3E"/>
                </a:solidFill>
                <a:latin typeface="Segoe UI Semibold" panose="020B0702040204020203" pitchFamily="34" charset="0"/>
              </a:rPr>
              <a:t>Родитель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BBB239-6D8F-A1EE-4193-F46664CD734C}"/>
              </a:ext>
            </a:extLst>
          </p:cNvPr>
          <p:cNvSpPr txBox="1"/>
          <p:nvPr/>
        </p:nvSpPr>
        <p:spPr>
          <a:xfrm>
            <a:off x="6680200" y="2819400"/>
            <a:ext cx="4546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5E6C7C"/>
                </a:solidFill>
                <a:latin typeface="Segoe UI" panose="020B0502040204020203" pitchFamily="34" charset="0"/>
              </a:rPr>
              <a:t>Видит, когда ребёнок сел в автобус и вышел у школы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5E6C7C"/>
                </a:solidFill>
                <a:latin typeface="Segoe UI" panose="020B0502040204020203" pitchFamily="34" charset="0"/>
              </a:rPr>
              <a:t>Уведомление: автобус подъехал к остановке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5E6C7C"/>
                </a:solidFill>
                <a:latin typeface="Segoe UI" panose="020B0502040204020203" pitchFamily="34" charset="0"/>
              </a:rPr>
              <a:t>История посадок за день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5E6C7C"/>
                </a:solidFill>
                <a:latin typeface="Segoe UI" panose="020B0502040204020203" pitchFamily="34" charset="0"/>
              </a:rPr>
              <a:t>Никаких звонков «а где автобус?»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300">
                <a:solidFill>
                  <a:srgbClr val="5E6C7C"/>
                </a:solidFill>
                <a:latin typeface="Segoe UI" panose="020B0502040204020203" pitchFamily="34" charset="0"/>
              </a:rPr>
              <a:t>Общий доступ для всей семьи</a:t>
            </a:r>
          </a:p>
        </p:txBody>
      </p:sp>
    </p:spTree>
    <p:extLst>
      <p:ext uri="{BB962C8B-B14F-4D97-AF65-F5344CB8AC3E}">
        <p14:creationId xmlns:p14="http://schemas.microsoft.com/office/powerpoint/2010/main" val="1310760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0E05A69-EBFD-C719-5B96-E0ABDE601A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4E18A0-5548-5086-2157-E7BC5D157B8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988F0B-02C7-1F02-290C-3CDE65A8AA35}"/>
              </a:ext>
            </a:extLst>
          </p:cNvPr>
          <p:cNvSpPr txBox="1"/>
          <p:nvPr/>
        </p:nvSpPr>
        <p:spPr>
          <a:xfrm>
            <a:off x="762000" y="558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 b="1">
                <a:solidFill>
                  <a:srgbClr val="E07A28"/>
                </a:solidFill>
                <a:latin typeface="Segoe UI Semibold" panose="020B0702040204020203" pitchFamily="34" charset="0"/>
              </a:rPr>
              <a:t>РЕАЛЬНОСТЬ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07E1F-0996-DC1E-8330-7B60666117DE}"/>
              </a:ext>
            </a:extLst>
          </p:cNvPr>
          <p:cNvSpPr txBox="1"/>
          <p:nvPr/>
        </p:nvSpPr>
        <p:spPr>
          <a:xfrm>
            <a:off x="762000" y="838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900" b="1">
                <a:solidFill>
                  <a:srgbClr val="122A3E"/>
                </a:solidFill>
                <a:latin typeface="Segoe UI Semibold" panose="020B0702040204020203" pitchFamily="34" charset="0"/>
              </a:rPr>
              <a:t>Не макет, а работающая карта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9B000C0-CA9B-1C9F-6964-050AE7C887AE}"/>
              </a:ext>
            </a:extLst>
          </p:cNvPr>
          <p:cNvSpPr/>
          <p:nvPr/>
        </p:nvSpPr>
        <p:spPr>
          <a:xfrm>
            <a:off x="762000" y="1498600"/>
            <a:ext cx="7112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528EB-4C9A-4415-FC4D-142F9FE4D0CE}"/>
              </a:ext>
            </a:extLst>
          </p:cNvPr>
          <p:cNvSpPr txBox="1"/>
          <p:nvPr/>
        </p:nvSpPr>
        <p:spPr>
          <a:xfrm>
            <a:off x="762000" y="6400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50">
                <a:solidFill>
                  <a:srgbClr val="5E6C7C"/>
                </a:solidFill>
                <a:latin typeface="Segoe UI" panose="020B0502040204020203" pitchFamily="34" charset="0"/>
              </a:rPr>
              <a:t>Школьный автобус · карта маршрутов и посадки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2C215-528C-9CD4-12B9-1C7C0C272F59}"/>
              </a:ext>
            </a:extLst>
          </p:cNvPr>
          <p:cNvSpPr txBox="1"/>
          <p:nvPr/>
        </p:nvSpPr>
        <p:spPr>
          <a:xfrm>
            <a:off x="10668000" y="6400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000">
                <a:solidFill>
                  <a:srgbClr val="5E6C7C"/>
                </a:solidFill>
                <a:latin typeface="Segoe UI" panose="020B0502040204020203" pitchFamily="34" charset="0"/>
              </a:rPr>
              <a:t>7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085271A-1EA2-C85C-C6B1-6D122E1FC4AF}"/>
              </a:ext>
            </a:extLst>
          </p:cNvPr>
          <p:cNvSpPr/>
          <p:nvPr/>
        </p:nvSpPr>
        <p:spPr>
          <a:xfrm>
            <a:off x="762000" y="1905000"/>
            <a:ext cx="3454400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434E1A3-A825-829E-929A-4442ED16089C}"/>
              </a:ext>
            </a:extLst>
          </p:cNvPr>
          <p:cNvSpPr/>
          <p:nvPr/>
        </p:nvSpPr>
        <p:spPr>
          <a:xfrm>
            <a:off x="1066800" y="2209800"/>
            <a:ext cx="1371600" cy="342900"/>
          </a:xfrm>
          <a:prstGeom prst="roundRect">
            <a:avLst>
              <a:gd name="adj" fmla="val 40000"/>
            </a:avLst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ED168A-06D8-DC40-E4B5-7A9D00C52064}"/>
              </a:ext>
            </a:extLst>
          </p:cNvPr>
          <p:cNvSpPr txBox="1"/>
          <p:nvPr/>
        </p:nvSpPr>
        <p:spPr>
          <a:xfrm>
            <a:off x="1066800" y="2209800"/>
            <a:ext cx="137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100" b="1">
                <a:solidFill>
                  <a:srgbClr val="FFFFFF"/>
                </a:solidFill>
                <a:latin typeface="Segoe UI Semibold" panose="020B0702040204020203" pitchFamily="34" charset="0"/>
              </a:rPr>
              <a:t>19,2 км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597AA-AC7D-61DB-EA97-6D0AFB06BEF1}"/>
              </a:ext>
            </a:extLst>
          </p:cNvPr>
          <p:cNvSpPr txBox="1"/>
          <p:nvPr/>
        </p:nvSpPr>
        <p:spPr>
          <a:xfrm>
            <a:off x="1066800" y="27813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122A3E"/>
                </a:solidFill>
                <a:latin typeface="Segoe UI Semibold" panose="020B0702040204020203" pitchFamily="34" charset="0"/>
              </a:rPr>
              <a:t>Кольцо по Химкам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4ED08F-B2E0-DEA3-B62C-EB0E6C21447F}"/>
              </a:ext>
            </a:extLst>
          </p:cNvPr>
          <p:cNvSpPr txBox="1"/>
          <p:nvPr/>
        </p:nvSpPr>
        <p:spPr>
          <a:xfrm>
            <a:off x="1066800" y="33655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31 остановка, 9 настоящих школ, 3 автобуса. Маршрут: МЕГА → 12-й микрорайон Куркино → ТРЦ «Лига» → Куркинское шоссе → школа.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1229B04-18D7-5B84-1EBD-899C040A2700}"/>
              </a:ext>
            </a:extLst>
          </p:cNvPr>
          <p:cNvSpPr/>
          <p:nvPr/>
        </p:nvSpPr>
        <p:spPr>
          <a:xfrm>
            <a:off x="4521200" y="1905000"/>
            <a:ext cx="3454400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A3FD4FC4-A0E0-962A-A634-49B9EA976E67}"/>
              </a:ext>
            </a:extLst>
          </p:cNvPr>
          <p:cNvSpPr/>
          <p:nvPr/>
        </p:nvSpPr>
        <p:spPr>
          <a:xfrm>
            <a:off x="4826000" y="2209800"/>
            <a:ext cx="584200" cy="5842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480B1F-197A-80C2-BAE0-931D1AD02560}"/>
              </a:ext>
            </a:extLst>
          </p:cNvPr>
          <p:cNvSpPr txBox="1"/>
          <p:nvPr/>
        </p:nvSpPr>
        <p:spPr>
          <a:xfrm>
            <a:off x="4826000" y="2209800"/>
            <a:ext cx="584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OSM</a:t>
            </a:r>
            <a:endParaRPr lang="ru-RU" sz="1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092A0F-AB0B-86D7-36BB-577F4EF398BC}"/>
              </a:ext>
            </a:extLst>
          </p:cNvPr>
          <p:cNvSpPr txBox="1"/>
          <p:nvPr/>
        </p:nvSpPr>
        <p:spPr>
          <a:xfrm>
            <a:off x="4826000" y="29972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122A3E"/>
                </a:solidFill>
                <a:latin typeface="Segoe UI Semibold" panose="020B0702040204020203" pitchFamily="34" charset="0"/>
              </a:rPr>
              <a:t>Реальные данные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B8E0BA-E1BF-8277-0165-B6AA594FBAEA}"/>
              </a:ext>
            </a:extLst>
          </p:cNvPr>
          <p:cNvSpPr txBox="1"/>
          <p:nvPr/>
        </p:nvSpPr>
        <p:spPr>
          <a:xfrm>
            <a:off x="4826000" y="3581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Маршруты строит OSRM по настоящим дорогам, названия улиц и список школ подтягиваются из OpenStreetMap.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FC8922D5-A466-2664-32A7-0CA4D392FA8C}"/>
              </a:ext>
            </a:extLst>
          </p:cNvPr>
          <p:cNvSpPr/>
          <p:nvPr/>
        </p:nvSpPr>
        <p:spPr>
          <a:xfrm>
            <a:off x="8280400" y="1905000"/>
            <a:ext cx="3454400" cy="317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767491D-A07E-DD50-BEE7-8531802FE926}"/>
              </a:ext>
            </a:extLst>
          </p:cNvPr>
          <p:cNvSpPr/>
          <p:nvPr/>
        </p:nvSpPr>
        <p:spPr>
          <a:xfrm>
            <a:off x="8585200" y="2209800"/>
            <a:ext cx="1371600" cy="342900"/>
          </a:xfrm>
          <a:prstGeom prst="roundRect">
            <a:avLst>
              <a:gd name="adj" fmla="val 40000"/>
            </a:avLst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5DA90D-C486-07A4-4F33-E8334401B53F}"/>
              </a:ext>
            </a:extLst>
          </p:cNvPr>
          <p:cNvSpPr txBox="1"/>
          <p:nvPr/>
        </p:nvSpPr>
        <p:spPr>
          <a:xfrm>
            <a:off x="8585200" y="2209800"/>
            <a:ext cx="137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100" b="1">
                <a:solidFill>
                  <a:srgbClr val="FFFFFF"/>
                </a:solidFill>
                <a:latin typeface="Segoe UI Semibold" panose="020B0702040204020203" pitchFamily="34" charset="0"/>
              </a:rPr>
              <a:t>234 КБ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502E46-640F-3CD7-5CBA-0B669EB150C8}"/>
              </a:ext>
            </a:extLst>
          </p:cNvPr>
          <p:cNvSpPr txBox="1"/>
          <p:nvPr/>
        </p:nvSpPr>
        <p:spPr>
          <a:xfrm>
            <a:off x="8585200" y="27813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122A3E"/>
                </a:solidFill>
                <a:latin typeface="Segoe UI Semibold" panose="020B0702040204020203" pitchFamily="34" charset="0"/>
              </a:rPr>
              <a:t>Один файл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D4CCD5-D964-395B-F45C-98C11202E3D8}"/>
              </a:ext>
            </a:extLst>
          </p:cNvPr>
          <p:cNvSpPr txBox="1"/>
          <p:nvPr/>
        </p:nvSpPr>
        <p:spPr>
          <a:xfrm>
            <a:off x="8585200" y="33655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Leaflet, стили и логика встроены в один HTML. Открывается двойным щелчком с рабочего стола, без установки.</a:t>
            </a:r>
          </a:p>
        </p:txBody>
      </p:sp>
    </p:spTree>
    <p:extLst>
      <p:ext uri="{BB962C8B-B14F-4D97-AF65-F5344CB8AC3E}">
        <p14:creationId xmlns:p14="http://schemas.microsoft.com/office/powerpoint/2010/main" val="2454760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9E1480-AED8-DD4D-EB57-20527CAC35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92E3468-8179-CD8F-E248-264AC537B6A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401DDE-6CAB-4072-7AB4-7250E0165A5E}"/>
              </a:ext>
            </a:extLst>
          </p:cNvPr>
          <p:cNvSpPr txBox="1"/>
          <p:nvPr/>
        </p:nvSpPr>
        <p:spPr>
          <a:xfrm>
            <a:off x="762000" y="558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 b="1">
                <a:solidFill>
                  <a:srgbClr val="E07A28"/>
                </a:solidFill>
                <a:latin typeface="Segoe UI Semibold" panose="020B0702040204020203" pitchFamily="34" charset="0"/>
              </a:rPr>
              <a:t>ЭФФЕКТ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9F1238-02E8-89E2-3E36-31E11F1D9F43}"/>
              </a:ext>
            </a:extLst>
          </p:cNvPr>
          <p:cNvSpPr txBox="1"/>
          <p:nvPr/>
        </p:nvSpPr>
        <p:spPr>
          <a:xfrm>
            <a:off x="762000" y="838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900" b="1">
                <a:solidFill>
                  <a:srgbClr val="122A3E"/>
                </a:solidFill>
                <a:latin typeface="Segoe UI Semibold" panose="020B0702040204020203" pitchFamily="34" charset="0"/>
              </a:rPr>
              <a:t>Как это помогает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AB7DE70-6C0E-4A3B-E688-4F31EF2C40D2}"/>
              </a:ext>
            </a:extLst>
          </p:cNvPr>
          <p:cNvSpPr/>
          <p:nvPr/>
        </p:nvSpPr>
        <p:spPr>
          <a:xfrm>
            <a:off x="762000" y="1498600"/>
            <a:ext cx="7112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977F19-BD28-C31A-2DEA-545C18ACCDD9}"/>
              </a:ext>
            </a:extLst>
          </p:cNvPr>
          <p:cNvSpPr txBox="1"/>
          <p:nvPr/>
        </p:nvSpPr>
        <p:spPr>
          <a:xfrm>
            <a:off x="762000" y="6400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50">
                <a:solidFill>
                  <a:srgbClr val="5E6C7C"/>
                </a:solidFill>
                <a:latin typeface="Segoe UI" panose="020B0502040204020203" pitchFamily="34" charset="0"/>
              </a:rPr>
              <a:t>Школьный автобус · карта маршрутов и посадки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A985E6-088A-BD38-B97B-2411D08BA529}"/>
              </a:ext>
            </a:extLst>
          </p:cNvPr>
          <p:cNvSpPr txBox="1"/>
          <p:nvPr/>
        </p:nvSpPr>
        <p:spPr>
          <a:xfrm>
            <a:off x="10668000" y="6400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000">
                <a:solidFill>
                  <a:srgbClr val="5E6C7C"/>
                </a:solidFill>
                <a:latin typeface="Segoe UI" panose="020B0502040204020203" pitchFamily="34" charset="0"/>
              </a:rPr>
              <a:t>8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294C7510-FD4D-13B7-4326-926E85B8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982493"/>
              </p:ext>
            </p:extLst>
          </p:nvPr>
        </p:nvGraphicFramePr>
        <p:xfrm>
          <a:off x="635000" y="1981200"/>
          <a:ext cx="10922000" cy="508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953000">
                  <a:extLst>
                    <a:ext uri="{9D8B030D-6E8A-4147-A177-3AD203B41FA5}">
                      <a16:colId xmlns:a16="http://schemas.microsoft.com/office/drawing/2014/main" val="2857081765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38645158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511506917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Было</a:t>
                      </a:r>
                    </a:p>
                  </a:txBody>
                  <a:tcPr marL="177800" marR="177800" marT="25400" marB="25400" anchor="ctr">
                    <a:solidFill>
                      <a:srgbClr val="122A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Стало в приложении</a:t>
                      </a:r>
                    </a:p>
                  </a:txBody>
                  <a:tcPr marL="177800" marR="177800" marT="25400" marB="25400" anchor="ctr">
                    <a:solidFill>
                      <a:srgbClr val="122A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Эффект</a:t>
                      </a:r>
                    </a:p>
                  </a:txBody>
                  <a:tcPr marL="177800" marR="177800" marT="25400" marB="25400" anchor="ctr">
                    <a:solidFill>
                      <a:srgbClr val="122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45702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1F2933"/>
                          </a:solidFill>
                          <a:latin typeface="Segoe UI" panose="020B0502040204020203" pitchFamily="34" charset="0"/>
                        </a:rPr>
                        <a:t>Звонки «где автобус?»</a:t>
                      </a:r>
                    </a:p>
                  </a:txBody>
                  <a:tcPr marL="177800" marR="177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>
                          <a:solidFill>
                            <a:srgbClr val="5E6C7C"/>
                          </a:solidFill>
                          <a:latin typeface="Segoe UI" panose="020B0502040204020203" pitchFamily="34" charset="0"/>
                        </a:rPr>
                        <a:t>ETA на карте у каждого</a:t>
                      </a:r>
                    </a:p>
                  </a:txBody>
                  <a:tcPr marL="177800" marR="177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1">
                          <a:solidFill>
                            <a:srgbClr val="122A3E"/>
                          </a:solidFill>
                          <a:latin typeface="Segoe UI" panose="020B0502040204020203" pitchFamily="34" charset="0"/>
                        </a:rPr>
                        <a:t>−10–20 звонков в день</a:t>
                      </a:r>
                    </a:p>
                  </a:txBody>
                  <a:tcPr marL="177800" marR="177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10531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1F2933"/>
                          </a:solidFill>
                          <a:latin typeface="Segoe UI" panose="020B0502040204020203" pitchFamily="34" charset="0"/>
                        </a:rPr>
                        <a:t>Маршрут едет вслепую</a:t>
                      </a:r>
                    </a:p>
                  </a:txBody>
                  <a:tcPr marL="177800" marR="177800" marT="25400" marB="25400" anchor="ctr"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>
                          <a:solidFill>
                            <a:srgbClr val="5E6C7C"/>
                          </a:solidFill>
                          <a:latin typeface="Segoe UI" panose="020B0502040204020203" pitchFamily="34" charset="0"/>
                        </a:rPr>
                        <a:t>Пересборка под отметки</a:t>
                      </a:r>
                    </a:p>
                  </a:txBody>
                  <a:tcPr marL="177800" marR="177800" marT="25400" marB="25400" anchor="ctr"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1">
                          <a:solidFill>
                            <a:srgbClr val="122A3E"/>
                          </a:solidFill>
                          <a:latin typeface="Segoe UI" panose="020B0502040204020203" pitchFamily="34" charset="0"/>
                        </a:rPr>
                        <a:t>−10–15 мин на рейс</a:t>
                      </a:r>
                    </a:p>
                  </a:txBody>
                  <a:tcPr marL="177800" marR="177800" marT="25400" marB="25400" anchor="ctr">
                    <a:solidFill>
                      <a:srgbClr val="EC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25963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1F2933"/>
                          </a:solidFill>
                          <a:latin typeface="Segoe UI" panose="020B0502040204020203" pitchFamily="34" charset="0"/>
                        </a:rPr>
                        <a:t>Список на бумаге</a:t>
                      </a:r>
                    </a:p>
                  </a:txBody>
                  <a:tcPr marL="177800" marR="177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>
                          <a:solidFill>
                            <a:srgbClr val="5E6C7C"/>
                          </a:solidFill>
                          <a:latin typeface="Segoe UI" panose="020B0502040204020203" pitchFamily="34" charset="0"/>
                        </a:rPr>
                        <a:t>Манифест в телефоне</a:t>
                      </a:r>
                    </a:p>
                  </a:txBody>
                  <a:tcPr marL="177800" marR="177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1">
                          <a:solidFill>
                            <a:srgbClr val="122A3E"/>
                          </a:solidFill>
                          <a:latin typeface="Segoe UI" panose="020B0502040204020203" pitchFamily="34" charset="0"/>
                        </a:rPr>
                        <a:t>Учёт в реальном времени</a:t>
                      </a:r>
                    </a:p>
                  </a:txBody>
                  <a:tcPr marL="177800" marR="177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789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1F2933"/>
                          </a:solidFill>
                          <a:latin typeface="Segoe UI" panose="020B0502040204020203" pitchFamily="34" charset="0"/>
                        </a:rPr>
                        <a:t>Объявления в чатах</a:t>
                      </a:r>
                    </a:p>
                  </a:txBody>
                  <a:tcPr marL="177800" marR="177800" marT="25400" marB="25400" anchor="ctr"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>
                          <a:solidFill>
                            <a:srgbClr val="5E6C7C"/>
                          </a:solidFill>
                          <a:latin typeface="Segoe UI" panose="020B0502040204020203" pitchFamily="34" charset="0"/>
                        </a:rPr>
                        <a:t>Одна отметка от ученика</a:t>
                      </a:r>
                    </a:p>
                  </a:txBody>
                  <a:tcPr marL="177800" marR="177800" marT="25400" marB="25400" anchor="ctr">
                    <a:solidFill>
                      <a:srgbClr val="ECF1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1">
                          <a:solidFill>
                            <a:srgbClr val="122A3E"/>
                          </a:solidFill>
                          <a:latin typeface="Segoe UI" panose="020B0502040204020203" pitchFamily="34" charset="0"/>
                        </a:rPr>
                        <a:t>−20–30 мин в день</a:t>
                      </a:r>
                    </a:p>
                  </a:txBody>
                  <a:tcPr marL="177800" marR="177800" marT="25400" marB="25400" anchor="ctr">
                    <a:solidFill>
                      <a:srgbClr val="EC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8849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ru-RU" sz="1300" b="0">
                          <a:solidFill>
                            <a:srgbClr val="1F2933"/>
                          </a:solidFill>
                          <a:latin typeface="Segoe UI" panose="020B0502040204020203" pitchFamily="34" charset="0"/>
                        </a:rPr>
                        <a:t>Риск забытого ребёнка</a:t>
                      </a:r>
                    </a:p>
                  </a:txBody>
                  <a:tcPr marL="177800" marR="177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>
                          <a:solidFill>
                            <a:srgbClr val="5E6C7C"/>
                          </a:solidFill>
                          <a:latin typeface="Segoe UI" panose="020B0502040204020203" pitchFamily="34" charset="0"/>
                        </a:rPr>
                        <a:t>Контроль «не вышел»</a:t>
                      </a:r>
                    </a:p>
                  </a:txBody>
                  <a:tcPr marL="177800" marR="177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1">
                          <a:solidFill>
                            <a:srgbClr val="122A3E"/>
                          </a:solidFill>
                          <a:latin typeface="Segoe UI" panose="020B0502040204020203" pitchFamily="34" charset="0"/>
                        </a:rPr>
                        <a:t>Безопасность</a:t>
                      </a:r>
                    </a:p>
                  </a:txBody>
                  <a:tcPr marL="177800" marR="177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07537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solidFill>
                            <a:srgbClr val="122A3E"/>
                          </a:solidFill>
                          <a:latin typeface="Segoe UI" panose="020B0502040204020203" pitchFamily="34" charset="0"/>
                        </a:rPr>
                        <a:t>Итог</a:t>
                      </a:r>
                    </a:p>
                  </a:txBody>
                  <a:tcPr marL="177800" marR="177800" marT="25400" marB="25400" anchor="ctr">
                    <a:solidFill>
                      <a:srgbClr val="E07A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1">
                          <a:solidFill>
                            <a:srgbClr val="122A3E"/>
                          </a:solidFill>
                          <a:latin typeface="Segoe UI" panose="020B0502040204020203" pitchFamily="34" charset="0"/>
                        </a:rPr>
                        <a:t>Все роли в одном приложении</a:t>
                      </a:r>
                    </a:p>
                  </a:txBody>
                  <a:tcPr marL="177800" marR="177800" marT="25400" marB="25400" anchor="ctr">
                    <a:solidFill>
                      <a:srgbClr val="E07A2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1">
                          <a:solidFill>
                            <a:srgbClr val="122A3E"/>
                          </a:solidFill>
                          <a:latin typeface="Segoe UI" panose="020B0502040204020203" pitchFamily="34" charset="0"/>
                        </a:rPr>
                        <a:t>Рутина уходит из процесса</a:t>
                      </a:r>
                    </a:p>
                  </a:txBody>
                  <a:tcPr marL="177800" marR="177800" marT="25400" marB="25400" anchor="ctr">
                    <a:solidFill>
                      <a:srgbClr val="E07A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6837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83340F3-E590-975A-F579-F31F02BFCA38}"/>
              </a:ext>
            </a:extLst>
          </p:cNvPr>
          <p:cNvSpPr txBox="1"/>
          <p:nvPr/>
        </p:nvSpPr>
        <p:spPr>
          <a:xfrm>
            <a:off x="635000" y="59182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50" i="1">
                <a:solidFill>
                  <a:srgbClr val="5E6C7C"/>
                </a:solidFill>
                <a:latin typeface="Segoe UI" panose="020B0502040204020203" pitchFamily="34" charset="0"/>
              </a:rPr>
              <a:t>Оценка эффекта — прикидка для одной машины школьного автобуса в Химках; считать от фактических данных пилота.</a:t>
            </a:r>
          </a:p>
        </p:txBody>
      </p:sp>
    </p:spTree>
    <p:extLst>
      <p:ext uri="{BB962C8B-B14F-4D97-AF65-F5344CB8AC3E}">
        <p14:creationId xmlns:p14="http://schemas.microsoft.com/office/powerpoint/2010/main" val="797905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70ED028-EBAB-A1E3-7590-ACD7828920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9C953E4-227F-654E-42D7-F0880C16432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EBCC5-259E-9231-8AB4-76D6D5A16D93}"/>
              </a:ext>
            </a:extLst>
          </p:cNvPr>
          <p:cNvSpPr txBox="1"/>
          <p:nvPr/>
        </p:nvSpPr>
        <p:spPr>
          <a:xfrm>
            <a:off x="762000" y="558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 b="1">
                <a:solidFill>
                  <a:srgbClr val="E07A28"/>
                </a:solidFill>
                <a:latin typeface="Segoe UI Semibold" panose="020B0702040204020203" pitchFamily="34" charset="0"/>
              </a:rPr>
              <a:t>ИТОГИ И ПЛАНЫ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61AA1-8F60-802F-93D8-706628E0085F}"/>
              </a:ext>
            </a:extLst>
          </p:cNvPr>
          <p:cNvSpPr txBox="1"/>
          <p:nvPr/>
        </p:nvSpPr>
        <p:spPr>
          <a:xfrm>
            <a:off x="762000" y="838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2900" b="1">
                <a:solidFill>
                  <a:srgbClr val="122A3E"/>
                </a:solidFill>
                <a:latin typeface="Segoe UI Semibold" panose="020B0702040204020203" pitchFamily="34" charset="0"/>
              </a:rPr>
              <a:t>Что уже есть и что дальше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604AF88-F445-21B7-B251-69A235D65CF5}"/>
              </a:ext>
            </a:extLst>
          </p:cNvPr>
          <p:cNvSpPr/>
          <p:nvPr/>
        </p:nvSpPr>
        <p:spPr>
          <a:xfrm>
            <a:off x="762000" y="1498600"/>
            <a:ext cx="7112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0023CF-9C27-5227-4C65-0880D70F43D1}"/>
              </a:ext>
            </a:extLst>
          </p:cNvPr>
          <p:cNvSpPr txBox="1"/>
          <p:nvPr/>
        </p:nvSpPr>
        <p:spPr>
          <a:xfrm>
            <a:off x="762000" y="64008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950">
                <a:solidFill>
                  <a:srgbClr val="5E6C7C"/>
                </a:solidFill>
                <a:latin typeface="Segoe UI" panose="020B0502040204020203" pitchFamily="34" charset="0"/>
              </a:rPr>
              <a:t>Школьный автобус · карта маршрутов и посадки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31C65D-39FE-6937-CC6F-256CE3D60C15}"/>
              </a:ext>
            </a:extLst>
          </p:cNvPr>
          <p:cNvSpPr txBox="1"/>
          <p:nvPr/>
        </p:nvSpPr>
        <p:spPr>
          <a:xfrm>
            <a:off x="10668000" y="64008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ru-RU" sz="1000">
                <a:solidFill>
                  <a:srgbClr val="5E6C7C"/>
                </a:solidFill>
                <a:latin typeface="Segoe UI" panose="020B0502040204020203" pitchFamily="34" charset="0"/>
              </a:rPr>
              <a:t>9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CA5214D-1098-F1AD-0889-28392FF0F406}"/>
              </a:ext>
            </a:extLst>
          </p:cNvPr>
          <p:cNvSpPr/>
          <p:nvPr/>
        </p:nvSpPr>
        <p:spPr>
          <a:xfrm>
            <a:off x="762000" y="1905000"/>
            <a:ext cx="3302000" cy="340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D9A38A1-7EA8-B29C-28DD-E03CECF0026B}"/>
              </a:ext>
            </a:extLst>
          </p:cNvPr>
          <p:cNvSpPr/>
          <p:nvPr/>
        </p:nvSpPr>
        <p:spPr>
          <a:xfrm>
            <a:off x="762000" y="1905000"/>
            <a:ext cx="33020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37F049-287F-DC32-F690-7E299111BB6D}"/>
              </a:ext>
            </a:extLst>
          </p:cNvPr>
          <p:cNvSpPr txBox="1"/>
          <p:nvPr/>
        </p:nvSpPr>
        <p:spPr>
          <a:xfrm>
            <a:off x="1066800" y="2235200"/>
            <a:ext cx="2692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50" b="1">
                <a:solidFill>
                  <a:srgbClr val="122A3E"/>
                </a:solidFill>
                <a:latin typeface="Segoe UI Semibold" panose="020B0702040204020203" pitchFamily="34" charset="0"/>
              </a:rPr>
              <a:t>Работает сегодня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71F6AA-5D2C-C40D-E62E-31FC98983AB4}"/>
              </a:ext>
            </a:extLst>
          </p:cNvPr>
          <p:cNvSpPr txBox="1"/>
          <p:nvPr/>
        </p:nvSpPr>
        <p:spPr>
          <a:xfrm>
            <a:off x="1066800" y="2768600"/>
            <a:ext cx="269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Карта по реальным дорогам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Отметки → маршрут водителя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Три автобуса, кольцо, ETA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Манифест и тревоги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22302DE-24F8-F179-19E5-28F285BECDD9}"/>
              </a:ext>
            </a:extLst>
          </p:cNvPr>
          <p:cNvSpPr/>
          <p:nvPr/>
        </p:nvSpPr>
        <p:spPr>
          <a:xfrm>
            <a:off x="4445000" y="1905000"/>
            <a:ext cx="3302000" cy="340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924C25A-F06B-1A1D-F8F3-2CF3078154C5}"/>
              </a:ext>
            </a:extLst>
          </p:cNvPr>
          <p:cNvSpPr/>
          <p:nvPr/>
        </p:nvSpPr>
        <p:spPr>
          <a:xfrm>
            <a:off x="4445000" y="1905000"/>
            <a:ext cx="33020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AA447C-6FE3-B19A-3711-3219E04A4F38}"/>
              </a:ext>
            </a:extLst>
          </p:cNvPr>
          <p:cNvSpPr txBox="1"/>
          <p:nvPr/>
        </p:nvSpPr>
        <p:spPr>
          <a:xfrm>
            <a:off x="4749800" y="2235200"/>
            <a:ext cx="2692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50" b="1">
                <a:solidFill>
                  <a:srgbClr val="122A3E"/>
                </a:solidFill>
                <a:latin typeface="Segoe UI Semibold" panose="020B0702040204020203" pitchFamily="34" charset="0"/>
              </a:rPr>
              <a:t>Польза для школы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06ADA7-314A-9DFF-6732-A60292773589}"/>
              </a:ext>
            </a:extLst>
          </p:cNvPr>
          <p:cNvSpPr txBox="1"/>
          <p:nvPr/>
        </p:nvSpPr>
        <p:spPr>
          <a:xfrm>
            <a:off x="4749800" y="2768600"/>
            <a:ext cx="269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Прозрачность: где автобус и кто в салоне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Меньше нагрузки на администратора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Обратная связь с родителями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Меньше конфликтных ситуаций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BA23351-A18C-DE6D-87AD-3B85CD829AE7}"/>
              </a:ext>
            </a:extLst>
          </p:cNvPr>
          <p:cNvSpPr/>
          <p:nvPr/>
        </p:nvSpPr>
        <p:spPr>
          <a:xfrm>
            <a:off x="8128000" y="1905000"/>
            <a:ext cx="3302000" cy="340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FE5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CC19DE-085E-A849-5F63-244CDF94A274}"/>
              </a:ext>
            </a:extLst>
          </p:cNvPr>
          <p:cNvSpPr/>
          <p:nvPr/>
        </p:nvSpPr>
        <p:spPr>
          <a:xfrm>
            <a:off x="8128000" y="1905000"/>
            <a:ext cx="33020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0D911F-2198-7DE7-CF77-A13830C08B99}"/>
              </a:ext>
            </a:extLst>
          </p:cNvPr>
          <p:cNvSpPr txBox="1"/>
          <p:nvPr/>
        </p:nvSpPr>
        <p:spPr>
          <a:xfrm>
            <a:off x="8432800" y="2235200"/>
            <a:ext cx="2692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650" b="1">
                <a:solidFill>
                  <a:srgbClr val="122A3E"/>
                </a:solidFill>
                <a:latin typeface="Segoe UI Semibold" panose="020B0702040204020203" pitchFamily="34" charset="0"/>
              </a:rPr>
              <a:t>Следующий шаг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6AA38E-7FD5-70CC-EE5C-C430CA9A64D8}"/>
              </a:ext>
            </a:extLst>
          </p:cNvPr>
          <p:cNvSpPr txBox="1"/>
          <p:nvPr/>
        </p:nvSpPr>
        <p:spPr>
          <a:xfrm>
            <a:off x="8432800" y="2768600"/>
            <a:ext cx="2692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GPS автобусов вместо симуляции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Push родителю «автобус у остановки»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Отметка посадки по QR в салоне</a:t>
            </a:r>
          </a:p>
          <a:p>
            <a:pPr marL="342900" indent="-342900">
              <a:spcAft>
                <a:spcPts val="900"/>
              </a:spcAft>
              <a:buClr>
                <a:srgbClr val="E07A28"/>
              </a:buClr>
              <a:buSzPct val="100000"/>
              <a:buFont typeface="Arial" panose="020B0604020202020204" pitchFamily="34" charset="0"/>
              <a:buChar char="•"/>
            </a:pPr>
            <a:r>
              <a:rPr lang="ru-RU" sz="1250">
                <a:solidFill>
                  <a:srgbClr val="5E6C7C"/>
                </a:solidFill>
                <a:latin typeface="Segoe UI" panose="020B0502040204020203" pitchFamily="34" charset="0"/>
              </a:rPr>
              <a:t>Веб-кабинет школы</a:t>
            </a:r>
          </a:p>
        </p:txBody>
      </p:sp>
    </p:spTree>
    <p:extLst>
      <p:ext uri="{BB962C8B-B14F-4D97-AF65-F5344CB8AC3E}">
        <p14:creationId xmlns:p14="http://schemas.microsoft.com/office/powerpoint/2010/main" val="88492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5801971-6E06-CC21-F82E-11BA131E6C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A3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5D28EAB4-7F5D-3EA8-2F21-11F1DB834EF0}"/>
              </a:ext>
            </a:extLst>
          </p:cNvPr>
          <p:cNvSpPr/>
          <p:nvPr/>
        </p:nvSpPr>
        <p:spPr>
          <a:xfrm>
            <a:off x="-5334000" y="5842000"/>
            <a:ext cx="7112000" cy="7112000"/>
          </a:xfrm>
          <a:prstGeom prst="ellipse">
            <a:avLst/>
          </a:prstGeom>
          <a:solidFill>
            <a:srgbClr val="1E3A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86D9B92B-B872-D4FD-C02B-17F4B9939055}"/>
              </a:ext>
            </a:extLst>
          </p:cNvPr>
          <p:cNvSpPr/>
          <p:nvPr/>
        </p:nvSpPr>
        <p:spPr>
          <a:xfrm>
            <a:off x="9652000" y="-1778000"/>
            <a:ext cx="4318000" cy="4318000"/>
          </a:xfrm>
          <a:prstGeom prst="ellipse">
            <a:avLst/>
          </a:prstGeom>
          <a:solidFill>
            <a:srgbClr val="2C4A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AA453A6-AEB6-F7D2-CAB9-B22ED70701F0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B34283-3F08-BE19-3F1A-428CB4D8D2CF}"/>
              </a:ext>
            </a:extLst>
          </p:cNvPr>
          <p:cNvSpPr txBox="1"/>
          <p:nvPr/>
        </p:nvSpPr>
        <p:spPr>
          <a:xfrm>
            <a:off x="762000" y="711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00" b="1">
                <a:solidFill>
                  <a:srgbClr val="E07A28"/>
                </a:solidFill>
                <a:latin typeface="Segoe UI Semibold" panose="020B0702040204020203" pitchFamily="34" charset="0"/>
              </a:rPr>
              <a:t>ИТОГИ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0561B7-A9AB-CF98-8EC1-00A845414366}"/>
              </a:ext>
            </a:extLst>
          </p:cNvPr>
          <p:cNvSpPr txBox="1"/>
          <p:nvPr/>
        </p:nvSpPr>
        <p:spPr>
          <a:xfrm>
            <a:off x="762000" y="990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3200" b="1">
                <a:solidFill>
                  <a:srgbClr val="FFFFFF"/>
                </a:solidFill>
                <a:latin typeface="Segoe UI Semibold" panose="020B0702040204020203" pitchFamily="34" charset="0"/>
              </a:rPr>
              <a:t>Главное за 8 минут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2D9FBD4-DE07-1392-BF7A-EEF711324EBB}"/>
              </a:ext>
            </a:extLst>
          </p:cNvPr>
          <p:cNvSpPr/>
          <p:nvPr/>
        </p:nvSpPr>
        <p:spPr>
          <a:xfrm>
            <a:off x="762000" y="1676400"/>
            <a:ext cx="7112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F848CEA-C4BF-3871-24E6-C686C2DBFA2C}"/>
              </a:ext>
            </a:extLst>
          </p:cNvPr>
          <p:cNvSpPr/>
          <p:nvPr/>
        </p:nvSpPr>
        <p:spPr>
          <a:xfrm>
            <a:off x="762000" y="2133600"/>
            <a:ext cx="3454400" cy="2413000"/>
          </a:xfrm>
          <a:prstGeom prst="roundRect">
            <a:avLst>
              <a:gd name="adj" fmla="val 5000"/>
            </a:avLst>
          </a:prstGeom>
          <a:solidFill>
            <a:srgbClr val="2C4A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8D1DD579-A34E-68DB-17EE-9701332C40FE}"/>
              </a:ext>
            </a:extLst>
          </p:cNvPr>
          <p:cNvSpPr/>
          <p:nvPr/>
        </p:nvSpPr>
        <p:spPr>
          <a:xfrm>
            <a:off x="1066800" y="2438400"/>
            <a:ext cx="508000" cy="5080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D69AE8-C4A5-E3EF-4087-5968E7B4BF03}"/>
              </a:ext>
            </a:extLst>
          </p:cNvPr>
          <p:cNvSpPr txBox="1"/>
          <p:nvPr/>
        </p:nvSpPr>
        <p:spPr>
          <a:xfrm>
            <a:off x="1066800" y="2438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921953-E480-BCAE-6E85-291675AAB18A}"/>
              </a:ext>
            </a:extLst>
          </p:cNvPr>
          <p:cNvSpPr txBox="1"/>
          <p:nvPr/>
        </p:nvSpPr>
        <p:spPr>
          <a:xfrm>
            <a:off x="1066800" y="3149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FFFFFF"/>
                </a:solidFill>
                <a:latin typeface="Segoe UI Semibold" panose="020B0702040204020203" pitchFamily="34" charset="0"/>
              </a:rPr>
              <a:t>Проблема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865BFC-A94B-D478-75AA-1A3468F2381A}"/>
              </a:ext>
            </a:extLst>
          </p:cNvPr>
          <p:cNvSpPr txBox="1"/>
          <p:nvPr/>
        </p:nvSpPr>
        <p:spPr>
          <a:xfrm>
            <a:off x="1066800" y="3581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ECF1F7"/>
                </a:solidFill>
                <a:latin typeface="Segoe UI" panose="020B0502040204020203" pitchFamily="34" charset="0"/>
              </a:rPr>
              <a:t>Звонки, слепой маршрут и бумажный учёт — до 30 минут в день на одну машину.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BC32AEB-83EE-DD1E-C817-AD92BBA0FE58}"/>
              </a:ext>
            </a:extLst>
          </p:cNvPr>
          <p:cNvSpPr/>
          <p:nvPr/>
        </p:nvSpPr>
        <p:spPr>
          <a:xfrm>
            <a:off x="4521200" y="2133600"/>
            <a:ext cx="3454400" cy="2413000"/>
          </a:xfrm>
          <a:prstGeom prst="roundRect">
            <a:avLst>
              <a:gd name="adj" fmla="val 5000"/>
            </a:avLst>
          </a:prstGeom>
          <a:solidFill>
            <a:srgbClr val="2C4A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81442DD2-4287-5707-9D32-79E3677C5F6C}"/>
              </a:ext>
            </a:extLst>
          </p:cNvPr>
          <p:cNvSpPr/>
          <p:nvPr/>
        </p:nvSpPr>
        <p:spPr>
          <a:xfrm>
            <a:off x="4826000" y="2438400"/>
            <a:ext cx="508000" cy="5080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752565-F9ED-CFCF-9365-A0F5C665405C}"/>
              </a:ext>
            </a:extLst>
          </p:cNvPr>
          <p:cNvSpPr txBox="1"/>
          <p:nvPr/>
        </p:nvSpPr>
        <p:spPr>
          <a:xfrm>
            <a:off x="4826000" y="2438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71DB49-EA11-597B-DA0B-49A6C54846D4}"/>
              </a:ext>
            </a:extLst>
          </p:cNvPr>
          <p:cNvSpPr txBox="1"/>
          <p:nvPr/>
        </p:nvSpPr>
        <p:spPr>
          <a:xfrm>
            <a:off x="4826000" y="3149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FFFFFF"/>
                </a:solidFill>
                <a:latin typeface="Segoe UI Semibold" panose="020B0702040204020203" pitchFamily="34" charset="0"/>
              </a:rPr>
              <a:t>Решение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C4898E-AAE6-E3D6-9496-4A8728FC7C3C}"/>
              </a:ext>
            </a:extLst>
          </p:cNvPr>
          <p:cNvSpPr txBox="1"/>
          <p:nvPr/>
        </p:nvSpPr>
        <p:spPr>
          <a:xfrm>
            <a:off x="4826000" y="3581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ECF1F7"/>
                </a:solidFill>
                <a:latin typeface="Segoe UI" panose="020B0502040204020203" pitchFamily="34" charset="0"/>
              </a:rPr>
              <a:t>Одна карта: ученик отмечает остановку, водитель получает пересобранный маршрут.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6ED30908-E594-4830-ABA2-89E9305527B3}"/>
              </a:ext>
            </a:extLst>
          </p:cNvPr>
          <p:cNvSpPr/>
          <p:nvPr/>
        </p:nvSpPr>
        <p:spPr>
          <a:xfrm>
            <a:off x="8280400" y="2133600"/>
            <a:ext cx="3454400" cy="2413000"/>
          </a:xfrm>
          <a:prstGeom prst="roundRect">
            <a:avLst>
              <a:gd name="adj" fmla="val 5000"/>
            </a:avLst>
          </a:prstGeom>
          <a:solidFill>
            <a:srgbClr val="2C4A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F44D48A4-424E-8B4D-1F0F-B6E654A427AB}"/>
              </a:ext>
            </a:extLst>
          </p:cNvPr>
          <p:cNvSpPr/>
          <p:nvPr/>
        </p:nvSpPr>
        <p:spPr>
          <a:xfrm>
            <a:off x="8585200" y="2438400"/>
            <a:ext cx="508000" cy="508000"/>
          </a:xfrm>
          <a:prstGeom prst="ellipse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EE472E-2096-E796-6911-FFD2153831CF}"/>
              </a:ext>
            </a:extLst>
          </p:cNvPr>
          <p:cNvSpPr txBox="1"/>
          <p:nvPr/>
        </p:nvSpPr>
        <p:spPr>
          <a:xfrm>
            <a:off x="8585200" y="2438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ru-RU" sz="1400" b="1">
                <a:solidFill>
                  <a:srgbClr val="FFFFFF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944E49-1E98-8042-3065-85A840D5DA04}"/>
              </a:ext>
            </a:extLst>
          </p:cNvPr>
          <p:cNvSpPr txBox="1"/>
          <p:nvPr/>
        </p:nvSpPr>
        <p:spPr>
          <a:xfrm>
            <a:off x="8585200" y="3149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700" b="1">
                <a:solidFill>
                  <a:srgbClr val="FFFFFF"/>
                </a:solidFill>
                <a:latin typeface="Segoe UI Semibold" panose="020B0702040204020203" pitchFamily="34" charset="0"/>
              </a:rPr>
              <a:t>Эффект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1B6BD2-8840-A51B-8E2A-8B8DB4558D8B}"/>
              </a:ext>
            </a:extLst>
          </p:cNvPr>
          <p:cNvSpPr txBox="1"/>
          <p:nvPr/>
        </p:nvSpPr>
        <p:spPr>
          <a:xfrm>
            <a:off x="8585200" y="3581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50">
                <a:solidFill>
                  <a:srgbClr val="ECF1F7"/>
                </a:solidFill>
                <a:latin typeface="Segoe UI" panose="020B0502040204020203" pitchFamily="34" charset="0"/>
              </a:rPr>
              <a:t>Маршрут короче, учёт прозрачен, звонков меньше.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52CB51-38E6-637E-113E-8F73D355E018}"/>
              </a:ext>
            </a:extLst>
          </p:cNvPr>
          <p:cNvSpPr txBox="1"/>
          <p:nvPr/>
        </p:nvSpPr>
        <p:spPr>
          <a:xfrm>
            <a:off x="762000" y="51308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4000">
                <a:solidFill>
                  <a:srgbClr val="FFFFFF"/>
                </a:solidFill>
                <a:latin typeface="Segoe UI Light" panose="020B0502040204020203" pitchFamily="34" charset="0"/>
              </a:rPr>
              <a:t>Спасибо за внимание!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01BC463-AC39-E339-228F-71833A886717}"/>
              </a:ext>
            </a:extLst>
          </p:cNvPr>
          <p:cNvSpPr/>
          <p:nvPr/>
        </p:nvSpPr>
        <p:spPr>
          <a:xfrm>
            <a:off x="762000" y="5943600"/>
            <a:ext cx="914400" cy="50800"/>
          </a:xfrm>
          <a:prstGeom prst="rect">
            <a:avLst/>
          </a:prstGeom>
          <a:solidFill>
            <a:srgbClr val="E07A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CDF14D-A7BD-FA20-CB0E-E43E16F35893}"/>
              </a:ext>
            </a:extLst>
          </p:cNvPr>
          <p:cNvSpPr txBox="1"/>
          <p:nvPr/>
        </p:nvSpPr>
        <p:spPr>
          <a:xfrm>
            <a:off x="762000" y="6121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150">
                <a:solidFill>
                  <a:srgbClr val="5E6C7C"/>
                </a:solidFill>
                <a:latin typeface="Segoe UI" panose="020B0502040204020203" pitchFamily="34" charset="0"/>
              </a:rPr>
              <a:t>Демо: файл «Школьный автобус.html» на рабочем столе</a:t>
            </a:r>
          </a:p>
        </p:txBody>
      </p:sp>
    </p:spTree>
    <p:extLst>
      <p:ext uri="{BB962C8B-B14F-4D97-AF65-F5344CB8AC3E}">
        <p14:creationId xmlns:p14="http://schemas.microsoft.com/office/powerpoint/2010/main" val="25255923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1249</Words>
  <Application>Microsoft Office PowerPoint</Application>
  <PresentationFormat>Произвольный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Segoe UI</vt:lpstr>
      <vt:lpstr>Segoe UI Light</vt:lpstr>
      <vt:lpstr>Segoe UI Semibold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 Fast</dc:creator>
  <cp:lastModifiedBy>Car Fast</cp:lastModifiedBy>
  <cp:revision>1</cp:revision>
  <dcterms:created xsi:type="dcterms:W3CDTF">2026-10-20T19:15:20Z</dcterms:created>
  <dcterms:modified xsi:type="dcterms:W3CDTF">2026-10-20T19:15:20Z</dcterms:modified>
</cp:coreProperties>
</file>